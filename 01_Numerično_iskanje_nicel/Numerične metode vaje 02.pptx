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7" r:id="rId11"/>
    <p:sldId id="262" r:id="rId12"/>
    <p:sldId id="263" r:id="rId13"/>
    <p:sldId id="264" r:id="rId14"/>
    <p:sldId id="265" r:id="rId15"/>
    <p:sldId id="266" r:id="rId16"/>
  </p:sldIdLst>
  <p:sldSz cx="12192000" cy="6858000"/>
  <p:notesSz cx="6858000" cy="9144000"/>
  <p:defaultTextStyle>
    <a:defPPr>
      <a:defRPr lang="sl-S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BE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rednji slog 2 – poudarek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0" autoAdjust="0"/>
    <p:restoredTop sz="94660"/>
  </p:normalViewPr>
  <p:slideViewPr>
    <p:cSldViewPr snapToGrid="0">
      <p:cViewPr>
        <p:scale>
          <a:sx n="75" d="100"/>
          <a:sy n="75" d="100"/>
        </p:scale>
        <p:origin x="1086"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07:16.560"/>
    </inkml:context>
    <inkml:brush xml:id="br0">
      <inkml:brushProperty name="width" value="0.025" units="cm"/>
      <inkml:brushProperty name="height" value="0.025" units="cm"/>
    </inkml:brush>
  </inkml:definitions>
  <inkml:trace contextRef="#ctx0" brushRef="#br0">270 0 1800,'0'0'18056,"-32"15"-5145,-89 18-12911,108-29 0,0 2 0,0-1 0,0 2 0,1 0 0,0 0 0,-21 18 0,26-16 0,9-5 0,25-6 0,-8-3 0,1 0 0,-1-1 0,0-1 0,18-10 0,31-12 0,-15 3 0,-52 28 0,0-1 0,0 1 0,0 0 0,-1-1 0,1 1 0,-1 0 0,1 0 0,-1 0 0,0 0 0,1-1 0,-1 1 0,0 0 0,0 0 0,-1 0 0,1 3 0,-1-3 0,-9 168 0,4-12 0,6-157 0,0-1 0,0 0 0,0 1 0,-1-1 0,1 0 0,0 0 0,-1 1 0,1-1 0,0 0 0,0 0 0,-1 1 0,1-1 0,0 0 0,-1 0 0,1 0 0,-1 0 0,1 0 0,0 0 0,-1 1 0,1-1 0,0 0 0,-1 0 0,1 0 0,-1 0 0,1 0 0,0 0 0,-1-1 0,1 1 0,0 0 0,-1 0 0,1 0 0,0 0 0,-1 0 0,1 0 0,0-1 0,-1 1 0,1 0 0,0 0 0,-1-1 0,1 1 0,-17-8 0,16 8 0,-34-30 0,0-1 0,2-1 0,-46-58 0,60 61 0,24 27 0,15 12 0,4 4 0,0 3 0,28 23 0,-68-81 0,5 25 0,6 10 0,0 0 0,0-1 0,1 1 0,0-1 0,1 0 0,-1 0 0,1 0 0,0 0 0,1-1 0,-2-8 0,31 30 0,-13-2 0,-11-10 0,-1 1 0,0-1 0,1 0 0,-1 0 0,1 0 0,0 0 0,0 0 0,0-1 0,0 1 0,0-1 0,0 0 0,0 1 0,5-1 0,-8-4 0,-1-1 0,1 0 0,-1 1 0,1-1 0,-1 0 0,0 1 0,0-1 0,-1 1 0,-1-5 0,3 8 0,0 1 0,0-1 0,0 0 0,0 0 0,0 0 0,1 0 0,-1 0 0,0 0 0,0 0 0,0 0 0,0 0 0,0 0 0,1 0 0,-1 0 0,0 0 0,0 1 0,0-1 0,0 0 0,0 0 0,0 0 0,1 0 0,-1 0 0,0-1 0,0 1 0,0 0 0,0 0 0,0 0 0,1 0 0,-1 0 0,0 0 0,0 0 0,0 0 0,0 0 0,0 0 0,0 0 0,1 0 0,-1 0 0,0-1 0,0 1 0,0 0 0,0 0 0,0 0 0,0 0 0,0 0 0,0 0 0,0 0 0,0-1 0,0 1 0,0 0 0,1 0 0,-1 0 0,0 0 0,0 0 0,0-1 0,0 1 0,0 0 0,0 0 0,0 0 0,0 0 0,0 0 0,-1-1 0,24 15 0,-14-6 0,1 0 0,-1 0 0,14 17 0,-58-41 0,37 20 0,3 0 0,0 1 0,-1 0 0,0 0 0,0 0 0,0 1 0,0-1 0,-1 1 0,0 0 0,0 0 0,3 11 0,-9-16 0,1-1 0,0 1 0,-1-1 0,1 1 0,-1-1 0,1 0 0,-1 0 0,1 0 0,-1 0 0,1 0 0,-4-2 0,-30-15 0,36 17 0,-1 0 0,1 1 0,0-1 0,-1 0 0,1 0 0,0 0 0,-1 1 0,1-1 0,0 0 0,-1 0 0,1 1 0,0-1 0,-1 0 0,1 1 0,0-1 0,0 0 0,-1 1 0,1-1 0,0 0 0,0 1 0,0-1 0,0 0 0,-1 1 0,1-1 0,0 1 0,0-1 0,0 0 0,0 1 0,0-1 0,0 1 0,0-1 0,0 0 0,0 1 0,0-1 0,0 1 0,1-1 0,-1 0 0,0 1 0,0-1 0,0 1 0,0-1 0,1 0 0,-1 1 0,0-1 0,1 1 0,-1-1 0,2 1-242,-1 0-1,1 1 1,0-1 0,0 0-1,0 0 1,1-1-1,-1 1 1,0 0 0,0-1-1,0 1 1,1-1 0,-1 0-1,0 0 1,0 0 0,1 0-1,2 0 1,-4 0-26,5 0-7203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12.259"/>
    </inkml:context>
    <inkml:brush xml:id="br0">
      <inkml:brushProperty name="width" value="0.025" units="cm"/>
      <inkml:brushProperty name="height" value="0.025" units="cm"/>
    </inkml:brush>
  </inkml:definitions>
  <inkml:trace contextRef="#ctx0" brushRef="#br0">0 97 5281,'0'0'23350,"15"18"-22996,14-6-142,-17-8-175,-1 0 1,0 1 0,0 0-1,0 1 1,-1 0-1,1 1 1,-2 0 0,1 1-1,14 14 1,-21-18-29,0 0 0,0-1 1,0 1-1,1-1 0,-1 0 0,1 0 1,0 0-1,0 0 0,0-1 0,0 1 1,0-1-1,1 0 0,7 2 0,-11-4 457,-5 1-460,0-1 0,-1 0 0,1 0 0,0 0 0,-1-1 1,1 1-1,0-1 0,0 0 0,-1 0 0,1 0 0,-7-4 0,0 1 6,-104-31 79,114 35-43,0 0 0,0 0 1,1-1-1,-1 1 0,0 0 1,0 0-1,0 0 0,1-1 1,-1 1-1,0 0 0,0 0 1,0-1-1,1 1 0,-1-1 1,0 1-1,1-1 0,-1 1 1,0-1-1,1 0 0,-1 1 1,1-1-1,-1 1 0,1-1 1,-1 0-1,1 0 0,-1 1 1,1-1-1,0 0 0,-1 0 1,1 0-1,0 1 0,0-1 1,0 0-1,0 0 0,-1 0 1,1 0-1,1-1 0,-1 2 27,2-28 76,24-4-101,1 1 1,40-35 0,-62 62-838,7-7 1919,-9 10-4526,-2 11-11080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13.926"/>
    </inkml:context>
    <inkml:brush xml:id="br0">
      <inkml:brushProperty name="width" value="0.025" units="cm"/>
      <inkml:brushProperty name="height" value="0.025" units="cm"/>
    </inkml:brush>
  </inkml:definitions>
  <inkml:trace contextRef="#ctx0" brushRef="#br0">112 1 5209,'0'0'18144,"-27"1"-17128,22 2-946,0 0-1,0 1 0,1-1 1,0 1-1,0 0 0,0 0 1,0 1-1,0-1 0,1 1 1,-5 9-1,1-3-45,1 1 0,1-1 0,-8 24 0,12-28-21,0-1 1,0 1-1,1 0 0,0 0 1,1 9-1,0 4 74,-1-19-75,1-1 0,-1 1 0,1 0 0,-1-1 0,1 1 0,-1-1-1,1 0 1,0 1 0,-1-1 0,1 1 0,0-1 0,-1 0-1,1 0 1,0 1 0,-1-1 0,1 0 0,0 0 0,-1 0 0,1 0-1,0 0 1,0 0 0,-1 0 0,1 0 0,0 0 0,0 0-1,26 0-6,-23-1 17,4 2-32,-7-1 10,1 1 0,-1-1-1,1 0 1,-1 0-1,0 1 1,1-1 0,-1 0-1,1 0 1,-1-1-1,0 1 1,1 0 0,-1 0-1,1-1 1,-1 1-1,0 0 1,1-1 0,-1 0-1,0 1 1,0-1 0,1 0-1,-1 1 1,2-3-1,-2-5-608,-1 5-29,-15 2 688,12 1-33,0 0 0,0 1 0,0-1 0,0 0-1,1 1 1,-1 0 0,0 0 0,0 0 0,1 0 0,-1 0-1,0 1 1,1-1 0,-1 1 0,1-1 0,0 1-1,0 0 1,-1 0 0,1 0 0,0 0 0,1 1-1,-1-1 1,0 0 0,1 1 0,-1 0 0,1-1-1,0 1 1,0 0 0,0-1 0,0 1 0,-1 4-1,-1 9 91,1 0-1,0 0 1,1 0-1,1 21 0,0-22 57,0-14-146,0 0 0,1 0-1,-1 1 1,1-1 0,-1 0 0,1 0-1,-1 1 1,1-1 0,-1 0 0,1 0 0,0 0-1,0 0 1,0 0 0,0 0 0,0 0 0,0 0-1,0 0 1,0-1 0,0 1 0,0 0 0,0-1-1,0 1 1,1 0 0,-1-1 0,0 0 0,0 1-1,1-1 1,-1 0 0,0 1 0,1-1-1,-1 0 1,3 0 0,54 0 276,-41-1-237,-13 0-30,1 0-1,-1 1 0,0-1 0,0-1 0,0 1 1,0-1-1,0 1 0,4-3 0,0-5-7234,-8 6 1987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18.790"/>
    </inkml:context>
    <inkml:brush xml:id="br0">
      <inkml:brushProperty name="width" value="0.025" units="cm"/>
      <inkml:brushProperty name="height" value="0.025" units="cm"/>
    </inkml:brush>
  </inkml:definitions>
  <inkml:trace contextRef="#ctx0" brushRef="#br0">1 53 9978,'0'0'10256,"3"-15"1116,-1 11-11785,2 5 453,-1 0-1,1 0 0,-1 0 1,0 0-1,0 0 0,0 1 1,1 0-1,-1-1 0,-1 1 1,1 0-1,0 0 0,0 1 1,-1-1-1,1 0 0,-1 1 1,0 0-1,3 4 0,37 57 778,-35-51-768,21 47-49,-22-47 0,0 1 0,0-1 0,15 22 0,-19-32 0,-1-3 0,-1 0 0,1 0 0,-1 0 0,1 0 0,-1 0 0,1 0 0,-1 0 0,1 0 0,0 0 0,-1 0 0,1 0 0,-1-1 0,0 1 0,1 0 0,-1 0 0,1 0 0,-1-1 0,1 1 0,-1 0 0,1-1 0,-1 1 0,0 0 0,1-1 0,-1 1 0,0 0 0,1-1 0,-1 1 0,0-1 0,0 1 0,1-1 0,-1 1 0,0-1 0,0 1 0,0-1 0,1 0 0,7-25 0,-3 13 0,5-5 0,-1 0 0,0-1 0,9-35 0,1 4 0,-13 35 0,-3 9 0,0 0 0,-1 0 0,0 0 0,0-1 0,2-12 0,2 15 0,-5 2 0,-1 1 0,-1 1 0,1 0 0,-1-1 0,1 1 0,-1 0 0,1-1 0,-1 1 0,1 0 0,-1 0 0,0-1 0,1 1 0,-1 0 0,1 0 0,-1 0 0,0 0 0,1 0 0,-1 0 0,1 0 0,-1 0 0,0 0 0,1 0 0,-1 0 0,0 1 0,-1-1 0,-52 2 0,-88 16 0,94-10 0,37-6 0,9 2 0,2 5 0,0 9 0,0 0 0,1 0 0,4 19 0,-3-30 0,0 0 0,0 0 0,1 0 0,0-1 0,0 1 0,1-1 0,0 0 0,0 0 0,1 0 0,5 6 0,18 24 0,-21-26 0,0 0 0,1-1 0,0 0 0,1-1 0,13 12 0,-16-17 0,-5-4 0,-1 1 0,1 0 0,-1 0 0,1 0 0,-1-1 0,0 1 0,1 0 0,-1 0 0,0-1 0,1 1 0,-1 0 0,0-1 0,1 1 0,-1 0 0,0-1 0,0 1 0,1-1 0,-1 1 0,0 0 0,0-1 0,0 1 0,0-1 0,1 1 0,-1-1 0,0 1 0,0-1 0,0 1 0,0-1 0,0 1 0,0 0 0,0-1 0,0 1 0,-1-2 0,1-17 0,0 18 0,2-22 0,1 0 0,0 0 0,2 0 0,1 1 0,8-22 0,-11 37 0,11-15 0,-9 16 0,-19 13 0,-12 11 0,1 0 0,-31 30 0,56-48 0,0 0 0,0 0 0,-1 0 0,1 1 0,0-1 0,0 0 0,-1 0 0,1 0 0,0 0 0,0 0 0,-1 0 0,1 0 0,0 0 0,-1 0 0,1 0 0,0 0 0,0 0 0,-1 0 0,1 0 0,0 0 0,0-1 0,-1 1 0,1 0 0,0 0 0,0 0 0,-1 0 0,1 0 0,0 0 0,0-1 0,0 1 0,-1 0 0,1 0 0,0 0 0,0-1 0,0 1 0,0 0 0,0 0 0,-1-1 0,1 1 0,0 0 0,0 0 0,0-1 0,0 1 0,0 0 0,0 0 0,0-1 0,0 1 0,0 0 0,0 0 0,0-1 0,0 1 0,0 0 0,0 0 0,0-1 0,0 1 0,0 0 0,0 0 0,0-1 0,1 1 0,-2-21 0,1 19 0,0-2 0,0-9 0,0-1 0,1 1 0,1-1 0,4-16 0,-6 26 0,1 1 0,0-1 0,0 1 0,1 0 0,-1-1 0,1 1 0,0 0 0,0 0 0,0 0 0,0 0 0,0 1 0,0-1 0,1 1 0,0-1 0,-1 1 0,1 0 0,0 0 0,0 0 0,0 0 0,0 0 0,0 1 0,1-1 0,5-1 0,-8 3 0,-1 0 0,0 0 0,0 0 0,0 0 0,0 0 0,1 0 0,-1 0 0,0 0 0,0 0 0,0 0 0,0 0 0,1 0 0,-1 0 0,0 0 0,0 0 0,0 0 0,0 0 0,1 0 0,-1 0 0,0 0 0,0 0 0,0 0 0,0 1 0,0-1 0,1 0 0,-1 0 0,0 0 0,0 0 0,0 0 0,0 0 0,0 0 0,0 1 0,0-1 0,0 0 0,1 0 0,-1 0 0,0 0 0,0 1 0,0-1 0,0 0 0,0 0 0,0 0 0,0 0 0,0 1 0,0-1 0,0 0 0,0 0 0,0 0 0,0 0 0,0 1 0,0-1 0,0 0 0,0 0 0,0 0 0,0 0 0,-1 0 0,1 1 0,0-1 0,0 0 0,0 0 0,0 0 0,0 0 0,0 0 0,0 1 0,-1-1 0,-4 9 0,1-4 0,-1 0 0,0 0 0,0 0 0,-1-1 0,1 0 0,-1 0 0,0 0 0,0-1 0,0 0 0,-1 0 0,1 0 0,-13 3 0,19-6 0,-1 0 0,1 0 0,0 0 0,0 0 0,0 0 0,0 1 0,-1-1 0,1 0 0,0 0 0,0 0 0,-1 0 0,1 0 0,0 0 0,0 0 0,0 0 0,-1 0 0,1 0 0,0 0 0,0 0 0,0 0 0,-1 0 0,1 0 0,0-1 0,0 1 0,0 0 0,-1 0 0,1 0 0,0 0 0,0 0 0,0 0 0,0 0 0,-1-1 0,1 1 0,0 0 0,0 0 0,0 0 0,0 0 0,0-1 0,-1 1 0,1 0 0,0 0 0,0 0 0,0-1 0,0 1 0,0 0 0,0 0 0,0 0 0,0-1 0,0 1 0,0 0 0,0 0 0,0 0 0,0-1 0,0 1 0,0 0 0,0 0 0,0-1 0,0 1 0,0 0 0,0 0 0,0 0 0,1-1 0,-1 1 0,0 0 0,0 0 0,0-1 0,9-9 0,1 5-216,0 1 0,0 1 0,0-1-1,1 2 1,-1-1 0,1 2 0,-1-1 0,1 1 0,0 1 0,0 0-1,-1 1 1,1 0 0,12 2 0,-9 7-7020,-6 0-4819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29.252"/>
    </inkml:context>
    <inkml:brush xml:id="br0">
      <inkml:brushProperty name="width" value="0.025" units="cm"/>
      <inkml:brushProperty name="height" value="0.025" units="cm"/>
    </inkml:brush>
  </inkml:definitions>
  <inkml:trace contextRef="#ctx0" brushRef="#br0">76 0 7314,'0'0'5623,"-5"1"2612,-18 5-7102,20-4-1000,-1 1-445,1 0 0,-1 0 0,0 0 0,1 1 0,0-1 0,0 1 0,0-1 0,0 1 0,1 0-1,0 0 1,-1 1 0,1-1 0,1 0 0,-3 9 0,4-12 1907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30.218"/>
    </inkml:context>
    <inkml:brush xml:id="br0">
      <inkml:brushProperty name="width" value="0.025" units="cm"/>
      <inkml:brushProperty name="height" value="0.025" units="cm"/>
    </inkml:brush>
  </inkml:definitions>
  <inkml:trace contextRef="#ctx0" brushRef="#br0">198 1 7890,'0'0'14276,"0"28"-10454,1-15-3523,-2 0-1,0 0 1,0 1-1,-1-1 1,-1 0-1,0 0 1,-1-1-1,0 1 1,-1-1-1,-1 0 1,0 0-1,0-1 1,-1 1-1,-1-1 1,1-1-1,-19 20 1,-61 46 1085,88-107-1064,7 13-320,0 1 0,1 1 0,1 0 0,14-19 0,-2 3 0,-11 16 0,1 0 0,0 1 0,17-16 0,-23 25 0,0 1 0,0-1 0,1 1 0,0 1 0,0-1 0,0 1 0,1 0 0,-1 1 0,1-1 0,8-1 0,-12 5 0,-1-1 0,1 1 0,0 0 0,-1 0 0,1 1 0,-1-1 0,1 1 0,-1 0 0,1 0 0,-1 0 0,1 0 0,-1 1 0,0-1 0,1 1 0,-1 0 0,0 0 0,0 0 0,0 0 0,-1 0 0,1 1 0,0-1 0,-1 1 0,0 0 0,0 0 0,4 5 0,5 10 0,0 1 0,-1 0 0,10 25 0,-12-26 0,10 21 0,32 84 0,-45-86 0,-7-36 0,-1 0 0,1-1 0,-1 1 0,1-1 0,-1 1 0,0-1 0,0 0 0,1 0 0,-1 0 0,-3-1 0,2 1 0,-25-3 0,1-1 0,-1-1 0,1-1 0,0-2 0,1 0 0,-42-21 0,-43-11 0,35 14 0,71 22 0,5 4 0,1 0 0,0 0 0,0 0 0,0-1 0,0 1 0,0 0 0,0 0 0,0-1 0,0 1 0,0 0 0,0 0 0,0-1 0,0 1 0,0 0 0,0 0 0,0-1 0,0 1 0,0 0 0,0 0 0,0-1 0,0 1 0,0 0 0,0 0 0,1 0 0,-1-1 0,0 1 0,0 0 0,0 0 0,0 0 0,0-1 0,1 1 0,-1 0 0,0 0 0,0 0 0,0 0 0,1 0 0,-1-1 0,0 1 0,0 0 0,1 0 0,-1 0 0,0 0 0,0 0 0,0 0 0,1 0 0,-1 0 0,0 0 0,0 0 0,1 0 0,-1 0 0,0 0 0,0 0 0,1 0 0,-1 0 0,0 0 0,14 0 0,-14 0 0,257-13-1776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32.383"/>
    </inkml:context>
    <inkml:brush xml:id="br0">
      <inkml:brushProperty name="width" value="0.025" units="cm"/>
      <inkml:brushProperty name="height" value="0.025" units="cm"/>
    </inkml:brush>
  </inkml:definitions>
  <inkml:trace contextRef="#ctx0" brushRef="#br0">314 25 10658,'0'0'10432,"-1"-1"-9845,-1 0-1,1 0 1,0 1 0,0-1-1,-1 0 1,1 1 0,0-1-1,-1 1 1,1-1 0,-1 1 0,1 0-1,-1 0 1,-2-1 0,-10 10-111,0-1 0,1 2 0,0 0 0,1 0 0,-22 25 0,-15 11 99,-93 83-543,156-155-32,88-78 0,-28 31 0,-65 63 0,0 1 0,0 0 0,1 1 0,0 0 0,16-10 0,-24 17 0,0 0 0,0 0 0,1 0 0,-1 0 0,0 0 0,1 1 0,-1-1 0,1 1 0,-1-1 0,1 1 0,-1 0 0,1 0 0,-1 0 0,1 0 0,-1 0 0,1 1 0,-1-1 0,0 1 0,1 0 0,-1-1 0,1 1 0,-1 0 0,0 1 0,0-1 0,0 0 0,0 0 0,0 1 0,0 0 0,0-1 0,0 1 0,0 0 0,-1 0 0,1 0 0,1 3 0,97 156 0,3 5 0,-100-162 6,13 14-73,-15-18-639,-1-21-6631,0-1-770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34.367"/>
    </inkml:context>
    <inkml:brush xml:id="br0">
      <inkml:brushProperty name="width" value="0.025" units="cm"/>
      <inkml:brushProperty name="height" value="0.025" units="cm"/>
    </inkml:brush>
  </inkml:definitions>
  <inkml:trace contextRef="#ctx0" brushRef="#br0">1 35 3513,'0'0'2227,"12"-12"-3175,-11 11 850,-1 0 377,0 0 0,0 0 0,0 0 0,0 1 0,0-1-1,0 0 1,0 0 0,0 0 0,0 0 0,0 1 0,1-1-1,-1 0 1,0 0 0,1 0 0,-1 1 0,0-1 0,1 0-1,-1 0 1,1 1 0,-1-1 0,1 0 0,0 1 0,-1-1-1,2 0 1,24-1 3011,-4 3-4421,-3-1-1787,-12 0-1299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34.707"/>
    </inkml:context>
    <inkml:brush xml:id="br0">
      <inkml:brushProperty name="width" value="0.025" units="cm"/>
      <inkml:brushProperty name="height" value="0.025" units="cm"/>
    </inkml:brush>
  </inkml:definitions>
  <inkml:trace contextRef="#ctx0" brushRef="#br0">1 1 2473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35.069"/>
    </inkml:context>
    <inkml:brush xml:id="br0">
      <inkml:brushProperty name="width" value="0.025" units="cm"/>
      <inkml:brushProperty name="height" value="0.025" units="cm"/>
    </inkml:brush>
  </inkml:definitions>
  <inkml:trace contextRef="#ctx0" brushRef="#br0">131 113 2473,'96'-75'5713,"-76"61"6967,-20 19-9754,-3 15-1882,-5 0-362,-2-1 0,0 0 0,-1 0 1,-26 30-1,13-16 163,-38 49 223,54-73-859,1-1-1,-1-1 1,0 1 0,-1-1-1,1-1 1,-1 1 0,-14 6-1,22-13 495,1-11-656,-1 2-26,1 1 0,1-1 0,-1 0 0,1 0 0,1 0-1,-1 1 1,1-1 0,6-12 0,27-55-21,25-58 0,-59 132 0,-1-1 0,1 1 0,0 0 0,0 0 0,0-1 0,0 1 0,1 0 0,-1 0 0,0 0 0,1 1 0,-1-1 0,1 0 0,0 0 0,0 1 0,0-1 0,0 1 0,0 0 0,0-1 0,0 1 0,0 0 0,0 0 0,0 0 0,1 1 0,-1-1 0,0 0 0,1 1 0,-1 0 0,0-1 0,1 1 0,-1 0 0,1 0 0,-1 0 0,0 1 0,1-1 0,-1 0 0,0 1 0,1 0 0,-1 0 0,0-1 0,3 3 0,4 1 0,1 1 0,-1 0 0,0 1 0,0 0 0,-1 1 0,0-1 0,13 15 0,10 19-1083,-2 2-1,-2 0 1,-1 2-1,38 93 1,-62-133-985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36.966"/>
    </inkml:context>
    <inkml:brush xml:id="br0">
      <inkml:brushProperty name="width" value="0.025" units="cm"/>
      <inkml:brushProperty name="height" value="0.025" units="cm"/>
    </inkml:brush>
  </inkml:definitions>
  <inkml:trace contextRef="#ctx0" brushRef="#br0">172 216 1432,'0'0'3266,"-8"1"-4503,-24 3 2720,25-3 472,8-43 10834,-1 42-12586,0-1-1,0 1 1,1 0-1,-1 0 1,0 0-1,1 0 1,-1-1-1,0 1 1,1 0-1,-1 0 1,0 0 0,0 0-1,1 0 1,-1 0-1,0 0 1,1 0-1,-1 0 1,0 0-1,1 0 1,-1 0-1,0 0 1,1 0-1,-1 0 1,0 0-1,1 0 1,-1 0-1,0 1 1,1-1-1,-1 0 1,0 0-1,1 0 1,-1 0 0,0 1-1,0-1 1,1 0-1,-1 0 1,0 1-1,0-1 1,0 0-1,1 1 1,-1-1-1,0 0 1,0 0-1,0 1 1,0 0-1,-1 21 1834,-18 25-2207,12-37 275,-1 0 0,1 0-1,-2 0 1,-9 8 0,15-15-62,0-1 0,-1 1 0,1-1 0,-1 0 0,0 0 0,0 0 0,0 0 0,0-1 0,0 1 0,0-1 0,0 0 0,-1 0 0,1-1 0,-8 1 0,11-32 411,0 0-424,1 10-20,0 0 0,1-1 0,1 1 0,5-22 0,-5 36-10,0 0 1,1-1-1,0 1 0,0 0 1,1 1-1,0-1 0,0 0 1,0 1-1,1 0 0,0 0 1,0 0-1,1 1 0,0 0 1,12-9-1,-10 9-3,0 0-1,1 0 1,0 1-1,0 0 1,0 1-1,0-1 1,0 2 0,18-3-1,-3 2-11,0 2 0,34 2 0,-48 0 15,-1 1-1,0 0 1,1 1-1,-1 0 1,0 0 0,-1 1-1,1 1 1,-1-1 0,0 1-1,0 0 1,0 1-1,0 0 1,-1 0 0,0 1-1,-1 0 1,11 14-1,9 12 7,-3 2-1,28 51 1,-49-83-4,52 105-597,-24-35-6335,-25-67 2232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39.732"/>
    </inkml:context>
    <inkml:brush xml:id="br0">
      <inkml:brushProperty name="width" value="0.025" units="cm"/>
      <inkml:brushProperty name="height" value="0.025" units="cm"/>
    </inkml:brush>
  </inkml:definitions>
  <inkml:trace contextRef="#ctx0" brushRef="#br0">35 16 5817,'0'0'12924,"-2"-2"-10107,-10-8-1994,6 7 7284,5 3-6879,17 0-177,1 4-1051,-1 0 0,0 0 0,0 2 0,-1 0 0,23 12 0,5 1 0,-1-2 0,0 1 0,-1 3 0,66 42 0,-106-62 0,-1 0 0,1-1 0,0 1 0,0-1 0,0 1 0,0 0 0,-1 0 0,1 0 0,0-1 0,-1 1 0,1 0 0,-1 0 0,1 0 0,-1 0 0,1 0 0,-1 0 0,0 0 0,1 0 0,-1 0 0,0 0 0,0 0 0,0 0 0,0 0 0,0 0 0,0 0 0,0 0 0,0 0 0,0 0 0,0 0 0,0 0 0,-1 0 0,1 0 0,0 0 0,-1 0 0,1 0 0,-1 0 0,1 0 0,-1 0 0,0 0 0,1 0 0,-1 0 0,0-1 0,0 1 0,1 0 0,-2 0 0,-3 3 0,0 0 0,0 0 0,0-1 0,-1 0 0,1 0 0,-7 3 0,-116 37 0,91-32 0,0 1 0,2 2 0,0 1 0,-61 36 0,96-51-13,-1 0 0,0 1-1,0-1 1,1 0 0,-1 0 0,0 1-1,1-1 1,-1 1 0,1-1 0,-1 0-1,0 1 1,1-1 0,-1 1 0,1 0-1,-1-1 1,1 1 0,0-1 0,-1 1-1,1 0 1,-1-1 0,1 1 0,0 0-1,0-1 1,-1 1 0,1 0 0,0-1-1,0 3 1,19-2-1043,35-11-2776,-53 10 3689,41-12-6119,-1 0-3455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08:12:46.478"/>
    </inkml:context>
    <inkml:brush xml:id="br0">
      <inkml:brushProperty name="width" value="0.025" units="cm"/>
      <inkml:brushProperty name="height" value="0.025" units="cm"/>
    </inkml:brush>
  </inkml:definitions>
  <inkml:trace contextRef="#ctx0" brushRef="#br0">12 41 80,'0'0'4989,"0"-4"-4411,0-10-130,0 10 4498,3-8 5620,0 6-9280,-2 6 14,4 0-1085,1 1 0,-1 0-1,0 0 1,0 0 0,0 1-1,0 0 1,0 0 0,0 0-1,0 0 1,-1 1 0,1 0-1,-1 0 1,0 0 0,6 6 0,8 9 2048,29 36 1,-19-21-1438,-19-20-826,-8-11 0,1 1 0,0-1 0,0 1 0,0-1 0,0 0 0,0 1 0,0-1 0,0 0 0,5 2 0,-6-1 0,-2-2 0,0 0 0,0 0 0,0 0 0,0 0 0,0 0 0,0 0 0,-1 0 0,1 0 0,0 0 0,-1-1 0,1 1 0,0 0 0,-1-1 0,1 1 0,-1-1 0,1 0 0,-1 1 0,1-1 0,-3 0 0,-2 2 0,-4 2 0,1 0 0,0 1 0,1 0 0,-1 0 0,1 1 0,0 0 0,0 1 0,1 0 0,-1 0 0,-9 14 0,-2 5 0,-30 57 0,35-56 0,13-26-41,0-1 0,1 1-1,-1 0 1,1-1 0,-1 1 0,1 0-1,-1-1 1,1 1 0,0 0 0,-1 0-1,1 0 1,0-1 0,0 1 0,-1 0-1,1 0 1,0 0 0,0 0 0,0-1-1,0 1 1,0 0 0,0 0 0,0 0-1,1 0 1,-1-1 0,0 1 0,0 0-1,0 0 1,1 0 0,-1-1 0,1 1-1,-1 0 1,0 0 0,1-1 0,-1 1-1,1 0 1,0-1 0,-1 1 0,1-1-1,-1 1 1,1-1 0,0 1 0,0-1-1,-1 1 1,1-1 0,0 0 0,0 1-1,-1-1 1,3 1 0,35 0-4289,-34-1 3286,13 0-5181,2 0-2496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13:23:08.215"/>
    </inkml:context>
    <inkml:brush xml:id="br0">
      <inkml:brushProperty name="width" value="0.025" units="cm"/>
      <inkml:brushProperty name="height" value="0.025" units="cm"/>
    </inkml:brush>
  </inkml:definitions>
  <inkml:trace contextRef="#ctx0" brushRef="#br0">230 197 12219,'0'0'13628,"-3"2"-12769,2-2-767,0 1 0,0-1 0,0 1 0,0-1 0,0 1 0,0 0 0,1 0 0,-1-1 0,0 1 1,0 0-1,1 0 0,-1 0 0,1-1 0,-1 1 0,1 0 0,-1 0 0,1 0 0,-1 0 0,1 0 0,0 0 0,-1 0 0,1 0 1,0 0-1,0 0 0,0 1 0,0 0 0,1 0 33,-1-1 0,1 1 0,0-1-1,0 1 1,0-1 0,0 1 0,0-1 0,0 0 0,0 1 0,0-1 0,0 0 0,1 0 0,-1 0-1,3 2 1,6 2 186,-1 0-1,1 0 0,0 0 0,13 2 0,35 11-259,0-4-1,89 11 0,-532-25-50,384 0 0,-1 0 0,0 0 0,1 0 0,-1 0 0,1 0 0,-1 0 0,1-1 0,-1 1 0,1 0 0,-1-1 0,1 0 0,-1 1 0,1-1 0,0 0 0,-2-1 0,4-4 0,16-1 0,72-11 0,1 3 0,1 5 0,144 1 0,-320 3 0,0-3 0,-106-26 0,143 26 0,-93-24 0,533 33 0,-590-9 0,169 5 0,0-1 0,0-1 0,1-1 0,-54-22 0,82 29 0,0 0 0,0 0 0,1 0 0,-1 0 0,0 0 0,0 0 0,0 0 0,0 0 0,0 0 0,0 0 0,0 0 0,0 0 0,0 0 0,0-1 0,0 1 0,0 0 0,0 0 0,0 0 0,1 0 0,-1 0 0,0 0 0,0 0 0,0 0 0,0 0 0,0 0 0,0-1 0,0 1 0,0 0 0,0 0 0,0 0 0,0 0 0,0 0 0,0 0 0,0 0 0,0 0 0,0 0 0,0-1 0,-1 1 0,1 0 0,0 0 0,0 0 0,0 0 0,0 0 0,0 0 0,0 0 0,0 0 0,0 0 0,0 0 0,0 0 0,0-1 0,0 1 0,0 0 0,0 0 0,-1 0 0,1 0 0,0 0 0,0 0 0,0 0 0,0 0 0,0 0 0,0 0 0,0 0 0,0 0 0,-1 0 0,15-3 0,19 1 0,-33 2 0,317-3 0,-444-17 0,-216-21 0,775 41 0,-785-4 0,689 4 0,-381 18 0,-201 41 0,231-55 0,15-4 0,0 0 0,0 0 0,0 1 0,0-1 0,0 0 0,1 1 0,-1-1 0,0 0 0,0 0 0,0 1 0,1-1 0,-1 0 0,0 0 0,0 0 0,1 0 0,-1 1 0,0-1 0,0 0 0,1 0 0,-1 0 0,0 0 0,0 0 0,1 0 0,-1 1 0,0-1 0,1 0 0,-1 0 0,0 0 0,1 0 0,-1 0 0,0 0 0,1 0 0,-1 0 0,0-1 0,0 1 0,1 0 0,-1 0 0,0 0 0,1 0 0,348 1 0,-612 46 0,186-31 0,29-4 0,111-8 0,243-4 0,-621 0 0,394-16 0,132-21 0,-212 37 0,1 0 0,0 0 0,0 0 0,0 0 0,0 0 0,0 0 0,0 0 0,0-1 0,0 1 0,0 0 0,0 0 0,-1 0 0,1 0 0,0 0 0,0 0 0,0 0 0,0 0 0,0 0 0,0-1 0,0 1 0,0 0 0,0 0 0,0 0 0,0 0 0,0 0 0,0 0 0,0 0 0,0 0 0,0-1 0,0 1 0,0 0 0,0 0 0,0 0 0,0 0 0,0 0 0,0 0 0,0 0 0,0-1 0,0 1 0,1 0 0,-1 0 0,0 0 0,0 0 0,0 0 0,0 0 0,0 0 0,0 0 0,0 0 0,0 0 0,0 0 0,0 0 0,1 0 0,-1-1 0,0 1 0,0 0 0,-12-3 0,-407-33 0,419 36 0,0 0 0,0 0 0,0-1 0,0 1 0,0 0 0,0 0 0,0 0 0,0 0 0,0 0 0,0 0 0,0-1 0,0 1 0,1 0 0,-1 0 0,0 0 0,-1 0 0,1 0 0,0-1 0,0 1 0,0 0 0,0 0 0,0 0 0,0 0 0,0 0 0,0 0 0,0-1 0,0 1 0,0 0 0,0 0 0,0 0 0,0 0 0,0 0 0,-1 0 0,20-3 0,402-10 0,-382 9 0,-31 1 0,-8 2 0,0 1 0,0 0 0,1 0 0,-1-1 0,0 1 0,0 0 0,0 0 0,1-1 0,-1 1 0,0 0 0,0 0 0,0-1 0,0 1 0,0 0 0,0-1 0,1 1 0,-1 0 0,0-1 0,0 1 0,0 0 0,0-1 0,0 1 0,0 0 0,0-1 0,0 1 0,0 0 0,-1-1 0,1 1 0,0 0 0,0-1 0,0 1 0,0 0 0,0 0 0,0-1 0,-1 1 0,1 0 0,0 0 0,0-1 0,0 1 0,-1 0 0,1 0 0,0-1 0,0 1 0,-1 0 0,1 0 0,0 0 0,-1 0 0,1-1 0,0 1 0,-1 0 0,-15-6 0,15 5 0,-38-11 0,2 0 0,-61-11 0,111 25 0,2-1 0,-1 1 0,1 1 0,15 4 0,-18-2 0,3 1 0,0 0 0,0-2 0,17 4 0,-62-13 0,1-1 0,0-2 0,-35-13 0,75 23 0,-1-1 0,0 0 0,1-1 0,-1 0 0,16-3 0,14 1 0,-11 1 0,-21-1 0,1 2 0,0-1 0,0 1 0,0 0 0,-1 1 0,16 3 0,-23-1 0,-1 15-2153,0 2-6534,0-5 1418,0 1-5565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13:23:10.729"/>
    </inkml:context>
    <inkml:brush xml:id="br0">
      <inkml:brushProperty name="width" value="0.025" units="cm"/>
      <inkml:brushProperty name="height" value="0.025" units="cm"/>
    </inkml:brush>
  </inkml:definitions>
  <inkml:trace contextRef="#ctx0" brushRef="#br0">3 1 2585,'0'0'18726,"0"21"-15558,-1 20-1129,0-16-1582,1 0-1,1 0 1,1 0-1,1 0 0,8 28 1,-6-34-455,0-1 0,-1 1 0,-1 0 0,0 22 1,-2-38-2225,2-1 5621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13:23:11.129"/>
    </inkml:context>
    <inkml:brush xml:id="br0">
      <inkml:brushProperty name="width" value="0.025" units="cm"/>
      <inkml:brushProperty name="height" value="0.025" units="cm"/>
    </inkml:brush>
  </inkml:definitions>
  <inkml:trace contextRef="#ctx0" brushRef="#br0">1 56 3105,'0'0'19759,"7"8"-19697,155 164 1615,-156-167-1643,0 0 1,0 0-1,0-1 0,1 0 1,-1 0-1,1-1 1,0 0-1,0 0 1,0-1-1,1 1 1,-1-2-1,0 1 1,1-1-1,0 0 1,-1 0-1,1-1 1,-1 0-1,1-1 1,11-1-1,-17 1-21,1 0 0,-1 0 0,1 0 0,-1 0 0,1 0 1,-1-1-1,1 1 0,-1-1 0,0 1 0,0-1 0,0 0 0,0 0 0,0 0 0,0 0 0,-1 0 0,1 0 0,-1-1 0,1 1 0,-1 0 1,0-1-1,0 1 0,1-5 0,4-9 50,-2 0 1,5-29-1,-2 12-66,1-37-977,-7 24-4416,-1 40 3836,-18 3-11107,16 3 11241,-23 0-1349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3-01T13:23:13.378"/>
    </inkml:context>
    <inkml:brush xml:id="br0">
      <inkml:brushProperty name="width" value="0.025" units="cm"/>
      <inkml:brushProperty name="height" value="0.025" units="cm"/>
    </inkml:brush>
  </inkml:definitions>
  <inkml:trace contextRef="#ctx0" brushRef="#br0">1 50 1064,'0'0'20537,"3"0"-19727,705 0 2480,-707 0-3274,-12 0-225,-686 12 1833,861-14-782,184 5-334,-341-3-503,5 0 3,1 1-1,0 0 1,-1 1-1,19 6 1,-31-8-8,1 1-1,-1-1 1,0 1 0,1-1 0,-1 1 0,0-1 0,0 1-1,0-1 1,0 1 0,1 0 0,-1-1 0,0 1-1,0-1 1,0 1 0,0-1 0,0 1 0,0 0 0,0-1-1,-1 1 1,1-1 0,0 1 0,0-1 0,0 1 0,-1 0-1,1-1 1,0 1 0,0-1 0,-1 1 0,1-1-1,-1 1 1,1-1 0,0 0 0,-1 1 0,1-1 0,-1 1-1,1-1 1,-1 1 0,-81 21 13,-1-4 1,-139 13-1,190-27-14,0-2-1,-1-1 1,-46-5 0,78 4 12,-1 0-1,1-1 1,0 1 0,0-1 0,0 1-1,0-1 1,0 0 0,0 1 0,0-1-1,0 0 1,0 0 0,0 0 0,1 0-1,-1 1 1,0-1 0,-1-2 0,2 2-9,0 1 0,0-1 1,-1 1-1,1-1 0,0 0 0,0 1 1,0-1-1,0 1 0,0-1 1,0 1-1,0-1 0,0 1 0,0-1 1,0 1-1,0-1 0,0 1 1,0-1-1,1 1 0,-1-1 1,0 1-1,0-1 0,0 1 0,1-1 1,-1 1-1,0-1 0,1 1 1,-1-1-1,0 1 0,1 0 0,-1-1 1,1 1-1,-1 0 0,1-1 1,-1 1-1,0 0 0,1 0 1,-1-1-1,1 1 0,-1 0 0,1 0 1,-1 0-1,1 0 0,0 0 1,-1-1-1,1 1 0,0 0 0,58-10 158,0 2-1,1 2 0,-1 3 0,68 6 1,-34-2-112,130-1 268,-222 0-276,-14 4 1,-68 5-217,0-3 0,-126-7 0,73-1 115,117 4 64,13-1-1,0-1 1,-1 1-1,1-1 1,-1 0-1,1 0 1,-1 0-1,1-1 1,-1 0-1,-7-2 1,91 0 334,444 3 138,-522 0-330,-8 0-14,-510 0 57,516 0-188,15 0 32,309-12 433,-313 7-316,-10 5-140,-1-1 0,1 1 0,-1-1 0,1 1 0,0-1 0,-1 1 0,1-1 1,-1 1-1,1-1 0,-1 1 0,0 0 0,1-1 0,-1 1 0,1 0 0,-1 0 0,0-1 0,1 1 0,-1 0 0,0 0 0,1 0 0,-1 0 0,1 0 0,-1 0 0,-1 0 0,-25-4 42,-356-68-491,370 69 412,-29-8-28,31 7 54,16 2 30,115-1 221,-41 1-52,126 11-1,-192-8-186,-9-1-16,0 0 1,0 1-1,0 0 0,0-1 1,0 1-1,0 1 1,0-1-1,5 3 1,-8-3-474,-30-1-3981,-11 0-3381,2 0-9094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diapozitiv">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FA18013E-DF31-4905-987C-A8BDC704EC98}"/>
              </a:ext>
            </a:extLst>
          </p:cNvPr>
          <p:cNvSpPr>
            <a:spLocks noGrp="1"/>
          </p:cNvSpPr>
          <p:nvPr>
            <p:ph type="ctrTitle"/>
          </p:nvPr>
        </p:nvSpPr>
        <p:spPr>
          <a:xfrm>
            <a:off x="1524000" y="1122363"/>
            <a:ext cx="9144000" cy="2387600"/>
          </a:xfrm>
        </p:spPr>
        <p:txBody>
          <a:bodyPr anchor="b"/>
          <a:lstStyle>
            <a:lvl1pPr algn="ctr">
              <a:defRPr sz="6000"/>
            </a:lvl1pPr>
          </a:lstStyle>
          <a:p>
            <a:r>
              <a:rPr lang="sl-SI"/>
              <a:t>Kliknite, če želite urediti slog naslova matrice</a:t>
            </a:r>
            <a:endParaRPr lang="en-US"/>
          </a:p>
        </p:txBody>
      </p:sp>
      <p:sp>
        <p:nvSpPr>
          <p:cNvPr id="3" name="Podnaslov 2">
            <a:extLst>
              <a:ext uri="{FF2B5EF4-FFF2-40B4-BE49-F238E27FC236}">
                <a16:creationId xmlns:a16="http://schemas.microsoft.com/office/drawing/2014/main" id="{7ECA7BD0-D7BC-4CA7-A968-9FDE60427F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l-SI"/>
              <a:t>Kliknite, če želite urediti slog podnaslova matrice</a:t>
            </a:r>
            <a:endParaRPr lang="en-US"/>
          </a:p>
        </p:txBody>
      </p:sp>
      <p:sp>
        <p:nvSpPr>
          <p:cNvPr id="4" name="Označba mesta datuma 3">
            <a:extLst>
              <a:ext uri="{FF2B5EF4-FFF2-40B4-BE49-F238E27FC236}">
                <a16:creationId xmlns:a16="http://schemas.microsoft.com/office/drawing/2014/main" id="{C61BD781-5FDF-4C08-88B7-FE76876597BA}"/>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5" name="Označba mesta noge 4">
            <a:extLst>
              <a:ext uri="{FF2B5EF4-FFF2-40B4-BE49-F238E27FC236}">
                <a16:creationId xmlns:a16="http://schemas.microsoft.com/office/drawing/2014/main" id="{58CC0E5D-BC43-4D53-B1FF-A6B8A5372BCE}"/>
              </a:ext>
            </a:extLst>
          </p:cNvPr>
          <p:cNvSpPr>
            <a:spLocks noGrp="1"/>
          </p:cNvSpPr>
          <p:nvPr>
            <p:ph type="ftr" sz="quarter" idx="11"/>
          </p:nvPr>
        </p:nvSpPr>
        <p:spPr/>
        <p:txBody>
          <a:bodyPr/>
          <a:lstStyle/>
          <a:p>
            <a:endParaRPr lang="en-US"/>
          </a:p>
        </p:txBody>
      </p:sp>
      <p:sp>
        <p:nvSpPr>
          <p:cNvPr id="6" name="Označba mesta številke diapozitiva 5">
            <a:extLst>
              <a:ext uri="{FF2B5EF4-FFF2-40B4-BE49-F238E27FC236}">
                <a16:creationId xmlns:a16="http://schemas.microsoft.com/office/drawing/2014/main" id="{81678AA5-7EC0-4456-AE9E-997DF71125CC}"/>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1993514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slov in vsebin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5750155B-FE95-4B3E-9E2E-570A910DF6BB}"/>
              </a:ext>
            </a:extLst>
          </p:cNvPr>
          <p:cNvSpPr>
            <a:spLocks noGrp="1"/>
          </p:cNvSpPr>
          <p:nvPr>
            <p:ph type="title"/>
          </p:nvPr>
        </p:nvSpPr>
        <p:spPr/>
        <p:txBody>
          <a:bodyPr/>
          <a:lstStyle/>
          <a:p>
            <a:r>
              <a:rPr lang="sl-SI"/>
              <a:t>Kliknite, če želite urediti slog naslova matrice</a:t>
            </a:r>
            <a:endParaRPr lang="en-US"/>
          </a:p>
        </p:txBody>
      </p:sp>
      <p:sp>
        <p:nvSpPr>
          <p:cNvPr id="3" name="Označba mesta vsebine 2">
            <a:extLst>
              <a:ext uri="{FF2B5EF4-FFF2-40B4-BE49-F238E27FC236}">
                <a16:creationId xmlns:a16="http://schemas.microsoft.com/office/drawing/2014/main" id="{A302CBBC-C62B-4524-B257-A34D92149E20}"/>
              </a:ext>
            </a:extLst>
          </p:cNvPr>
          <p:cNvSpPr>
            <a:spLocks noGrp="1"/>
          </p:cNvSpPr>
          <p:nvPr>
            <p:ph idx="1"/>
          </p:nvPr>
        </p:nvSpPr>
        <p:spPr/>
        <p:txBody>
          <a:bodyPr/>
          <a:lstStyle/>
          <a:p>
            <a:pPr lvl="0"/>
            <a:r>
              <a:rPr lang="sl-SI"/>
              <a:t>Kliknite za urejanje slogov besedila matrice</a:t>
            </a:r>
          </a:p>
          <a:p>
            <a:pPr lvl="1"/>
            <a:r>
              <a:rPr lang="sl-SI"/>
              <a:t>Druga raven</a:t>
            </a:r>
          </a:p>
          <a:p>
            <a:pPr lvl="2"/>
            <a:r>
              <a:rPr lang="sl-SI"/>
              <a:t>Tretja raven</a:t>
            </a:r>
          </a:p>
          <a:p>
            <a:pPr lvl="3"/>
            <a:r>
              <a:rPr lang="sl-SI"/>
              <a:t>Četrta raven</a:t>
            </a:r>
          </a:p>
          <a:p>
            <a:pPr lvl="4"/>
            <a:r>
              <a:rPr lang="sl-SI"/>
              <a:t>Peta raven</a:t>
            </a:r>
            <a:endParaRPr lang="en-US"/>
          </a:p>
        </p:txBody>
      </p:sp>
      <p:sp>
        <p:nvSpPr>
          <p:cNvPr id="4" name="Označba mesta datuma 3">
            <a:extLst>
              <a:ext uri="{FF2B5EF4-FFF2-40B4-BE49-F238E27FC236}">
                <a16:creationId xmlns:a16="http://schemas.microsoft.com/office/drawing/2014/main" id="{9D3D0305-3488-4D4A-818F-5DA5ACAC9DE3}"/>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5" name="Označba mesta noge 4">
            <a:extLst>
              <a:ext uri="{FF2B5EF4-FFF2-40B4-BE49-F238E27FC236}">
                <a16:creationId xmlns:a16="http://schemas.microsoft.com/office/drawing/2014/main" id="{250B9709-932A-4948-AA75-D0B8751038EB}"/>
              </a:ext>
            </a:extLst>
          </p:cNvPr>
          <p:cNvSpPr>
            <a:spLocks noGrp="1"/>
          </p:cNvSpPr>
          <p:nvPr>
            <p:ph type="ftr" sz="quarter" idx="11"/>
          </p:nvPr>
        </p:nvSpPr>
        <p:spPr/>
        <p:txBody>
          <a:bodyPr/>
          <a:lstStyle/>
          <a:p>
            <a:endParaRPr lang="en-US"/>
          </a:p>
        </p:txBody>
      </p:sp>
      <p:sp>
        <p:nvSpPr>
          <p:cNvPr id="6" name="Označba mesta številke diapozitiva 5">
            <a:extLst>
              <a:ext uri="{FF2B5EF4-FFF2-40B4-BE49-F238E27FC236}">
                <a16:creationId xmlns:a16="http://schemas.microsoft.com/office/drawing/2014/main" id="{D93ECFA4-7C2A-4899-8BE5-59E2D86072DF}"/>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1978945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Glava odsek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368185C7-B681-42C4-A257-C081CDF05CAB}"/>
              </a:ext>
            </a:extLst>
          </p:cNvPr>
          <p:cNvSpPr>
            <a:spLocks noGrp="1"/>
          </p:cNvSpPr>
          <p:nvPr>
            <p:ph type="title"/>
          </p:nvPr>
        </p:nvSpPr>
        <p:spPr>
          <a:xfrm>
            <a:off x="831850" y="1709738"/>
            <a:ext cx="10515600" cy="2852737"/>
          </a:xfrm>
        </p:spPr>
        <p:txBody>
          <a:bodyPr anchor="b"/>
          <a:lstStyle>
            <a:lvl1pPr>
              <a:defRPr sz="6000"/>
            </a:lvl1pPr>
          </a:lstStyle>
          <a:p>
            <a:r>
              <a:rPr lang="sl-SI"/>
              <a:t>Kliknite, če želite urediti slog naslova matrice</a:t>
            </a:r>
            <a:endParaRPr lang="en-US"/>
          </a:p>
        </p:txBody>
      </p:sp>
      <p:sp>
        <p:nvSpPr>
          <p:cNvPr id="3" name="Označba mesta besedila 2">
            <a:extLst>
              <a:ext uri="{FF2B5EF4-FFF2-40B4-BE49-F238E27FC236}">
                <a16:creationId xmlns:a16="http://schemas.microsoft.com/office/drawing/2014/main" id="{2E41F3D0-390A-454C-ACD8-44203AE08C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l-SI"/>
              <a:t>Kliknite za urejanje slogov besedila matrice</a:t>
            </a:r>
          </a:p>
        </p:txBody>
      </p:sp>
      <p:sp>
        <p:nvSpPr>
          <p:cNvPr id="4" name="Označba mesta datuma 3">
            <a:extLst>
              <a:ext uri="{FF2B5EF4-FFF2-40B4-BE49-F238E27FC236}">
                <a16:creationId xmlns:a16="http://schemas.microsoft.com/office/drawing/2014/main" id="{D13E15C0-7DB4-4974-89B2-CDD5AEBA0569}"/>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5" name="Označba mesta noge 4">
            <a:extLst>
              <a:ext uri="{FF2B5EF4-FFF2-40B4-BE49-F238E27FC236}">
                <a16:creationId xmlns:a16="http://schemas.microsoft.com/office/drawing/2014/main" id="{77511218-1B5C-4BDD-AB84-D14E98BEDFC1}"/>
              </a:ext>
            </a:extLst>
          </p:cNvPr>
          <p:cNvSpPr>
            <a:spLocks noGrp="1"/>
          </p:cNvSpPr>
          <p:nvPr>
            <p:ph type="ftr" sz="quarter" idx="11"/>
          </p:nvPr>
        </p:nvSpPr>
        <p:spPr/>
        <p:txBody>
          <a:bodyPr/>
          <a:lstStyle/>
          <a:p>
            <a:endParaRPr lang="en-US"/>
          </a:p>
        </p:txBody>
      </p:sp>
      <p:sp>
        <p:nvSpPr>
          <p:cNvPr id="6" name="Označba mesta številke diapozitiva 5">
            <a:extLst>
              <a:ext uri="{FF2B5EF4-FFF2-40B4-BE49-F238E27FC236}">
                <a16:creationId xmlns:a16="http://schemas.microsoft.com/office/drawing/2014/main" id="{726F9BD3-AFA7-4EDE-95BE-EC101B7B8889}"/>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324360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e vsebini">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FB9D4C77-5742-4B48-BFB4-3D406618BA27}"/>
              </a:ext>
            </a:extLst>
          </p:cNvPr>
          <p:cNvSpPr>
            <a:spLocks noGrp="1"/>
          </p:cNvSpPr>
          <p:nvPr>
            <p:ph type="title"/>
          </p:nvPr>
        </p:nvSpPr>
        <p:spPr/>
        <p:txBody>
          <a:bodyPr/>
          <a:lstStyle/>
          <a:p>
            <a:r>
              <a:rPr lang="sl-SI"/>
              <a:t>Kliknite, če želite urediti slog naslova matrice</a:t>
            </a:r>
            <a:endParaRPr lang="en-US"/>
          </a:p>
        </p:txBody>
      </p:sp>
      <p:sp>
        <p:nvSpPr>
          <p:cNvPr id="3" name="Označba mesta vsebine 2">
            <a:extLst>
              <a:ext uri="{FF2B5EF4-FFF2-40B4-BE49-F238E27FC236}">
                <a16:creationId xmlns:a16="http://schemas.microsoft.com/office/drawing/2014/main" id="{23EB1427-A5C6-4305-9B5B-7FF6C3E21F44}"/>
              </a:ext>
            </a:extLst>
          </p:cNvPr>
          <p:cNvSpPr>
            <a:spLocks noGrp="1"/>
          </p:cNvSpPr>
          <p:nvPr>
            <p:ph sz="half" idx="1"/>
          </p:nvPr>
        </p:nvSpPr>
        <p:spPr>
          <a:xfrm>
            <a:off x="838200" y="1825625"/>
            <a:ext cx="5181600" cy="4351338"/>
          </a:xfrm>
        </p:spPr>
        <p:txBody>
          <a:bodyPr/>
          <a:lstStyle/>
          <a:p>
            <a:pPr lvl="0"/>
            <a:r>
              <a:rPr lang="sl-SI"/>
              <a:t>Kliknite za urejanje slogov besedila matrice</a:t>
            </a:r>
          </a:p>
          <a:p>
            <a:pPr lvl="1"/>
            <a:r>
              <a:rPr lang="sl-SI"/>
              <a:t>Druga raven</a:t>
            </a:r>
          </a:p>
          <a:p>
            <a:pPr lvl="2"/>
            <a:r>
              <a:rPr lang="sl-SI"/>
              <a:t>Tretja raven</a:t>
            </a:r>
          </a:p>
          <a:p>
            <a:pPr lvl="3"/>
            <a:r>
              <a:rPr lang="sl-SI"/>
              <a:t>Četrta raven</a:t>
            </a:r>
          </a:p>
          <a:p>
            <a:pPr lvl="4"/>
            <a:r>
              <a:rPr lang="sl-SI"/>
              <a:t>Peta raven</a:t>
            </a:r>
            <a:endParaRPr lang="en-US"/>
          </a:p>
        </p:txBody>
      </p:sp>
      <p:sp>
        <p:nvSpPr>
          <p:cNvPr id="4" name="Označba mesta vsebine 3">
            <a:extLst>
              <a:ext uri="{FF2B5EF4-FFF2-40B4-BE49-F238E27FC236}">
                <a16:creationId xmlns:a16="http://schemas.microsoft.com/office/drawing/2014/main" id="{23FEDCCA-5FA9-424D-A57D-53BE7D00A294}"/>
              </a:ext>
            </a:extLst>
          </p:cNvPr>
          <p:cNvSpPr>
            <a:spLocks noGrp="1"/>
          </p:cNvSpPr>
          <p:nvPr>
            <p:ph sz="half" idx="2"/>
          </p:nvPr>
        </p:nvSpPr>
        <p:spPr>
          <a:xfrm>
            <a:off x="6172200" y="1825625"/>
            <a:ext cx="5181600" cy="4351338"/>
          </a:xfrm>
        </p:spPr>
        <p:txBody>
          <a:bodyPr/>
          <a:lstStyle/>
          <a:p>
            <a:pPr lvl="0"/>
            <a:r>
              <a:rPr lang="sl-SI"/>
              <a:t>Kliknite za urejanje slogov besedila matrice</a:t>
            </a:r>
          </a:p>
          <a:p>
            <a:pPr lvl="1"/>
            <a:r>
              <a:rPr lang="sl-SI"/>
              <a:t>Druga raven</a:t>
            </a:r>
          </a:p>
          <a:p>
            <a:pPr lvl="2"/>
            <a:r>
              <a:rPr lang="sl-SI"/>
              <a:t>Tretja raven</a:t>
            </a:r>
          </a:p>
          <a:p>
            <a:pPr lvl="3"/>
            <a:r>
              <a:rPr lang="sl-SI"/>
              <a:t>Četrta raven</a:t>
            </a:r>
          </a:p>
          <a:p>
            <a:pPr lvl="4"/>
            <a:r>
              <a:rPr lang="sl-SI"/>
              <a:t>Peta raven</a:t>
            </a:r>
            <a:endParaRPr lang="en-US"/>
          </a:p>
        </p:txBody>
      </p:sp>
      <p:sp>
        <p:nvSpPr>
          <p:cNvPr id="5" name="Označba mesta datuma 4">
            <a:extLst>
              <a:ext uri="{FF2B5EF4-FFF2-40B4-BE49-F238E27FC236}">
                <a16:creationId xmlns:a16="http://schemas.microsoft.com/office/drawing/2014/main" id="{BEFDEEA1-E033-435F-ABA5-5922BD7E40F8}"/>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6" name="Označba mesta noge 5">
            <a:extLst>
              <a:ext uri="{FF2B5EF4-FFF2-40B4-BE49-F238E27FC236}">
                <a16:creationId xmlns:a16="http://schemas.microsoft.com/office/drawing/2014/main" id="{D59A9727-A6AA-45BA-AC16-C71A1DD4A465}"/>
              </a:ext>
            </a:extLst>
          </p:cNvPr>
          <p:cNvSpPr>
            <a:spLocks noGrp="1"/>
          </p:cNvSpPr>
          <p:nvPr>
            <p:ph type="ftr" sz="quarter" idx="11"/>
          </p:nvPr>
        </p:nvSpPr>
        <p:spPr/>
        <p:txBody>
          <a:bodyPr/>
          <a:lstStyle/>
          <a:p>
            <a:endParaRPr lang="en-US"/>
          </a:p>
        </p:txBody>
      </p:sp>
      <p:sp>
        <p:nvSpPr>
          <p:cNvPr id="7" name="Označba mesta številke diapozitiva 6">
            <a:extLst>
              <a:ext uri="{FF2B5EF4-FFF2-40B4-BE49-F238E27FC236}">
                <a16:creationId xmlns:a16="http://schemas.microsoft.com/office/drawing/2014/main" id="{0893F5C7-3C03-4653-AA28-CA75096724E7}"/>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522493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rimerjav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65ADC485-EF11-4CD1-B287-3F3493C27CF7}"/>
              </a:ext>
            </a:extLst>
          </p:cNvPr>
          <p:cNvSpPr>
            <a:spLocks noGrp="1"/>
          </p:cNvSpPr>
          <p:nvPr>
            <p:ph type="title"/>
          </p:nvPr>
        </p:nvSpPr>
        <p:spPr>
          <a:xfrm>
            <a:off x="839788" y="365125"/>
            <a:ext cx="10515600" cy="1325563"/>
          </a:xfrm>
        </p:spPr>
        <p:txBody>
          <a:bodyPr/>
          <a:lstStyle/>
          <a:p>
            <a:r>
              <a:rPr lang="sl-SI"/>
              <a:t>Kliknite, če želite urediti slog naslova matrice</a:t>
            </a:r>
            <a:endParaRPr lang="en-US"/>
          </a:p>
        </p:txBody>
      </p:sp>
      <p:sp>
        <p:nvSpPr>
          <p:cNvPr id="3" name="Označba mesta besedila 2">
            <a:extLst>
              <a:ext uri="{FF2B5EF4-FFF2-40B4-BE49-F238E27FC236}">
                <a16:creationId xmlns:a16="http://schemas.microsoft.com/office/drawing/2014/main" id="{2E835619-7430-4617-B34F-142DCDA63D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l-SI"/>
              <a:t>Kliknite za urejanje slogov besedila matrice</a:t>
            </a:r>
          </a:p>
        </p:txBody>
      </p:sp>
      <p:sp>
        <p:nvSpPr>
          <p:cNvPr id="4" name="Označba mesta vsebine 3">
            <a:extLst>
              <a:ext uri="{FF2B5EF4-FFF2-40B4-BE49-F238E27FC236}">
                <a16:creationId xmlns:a16="http://schemas.microsoft.com/office/drawing/2014/main" id="{3EB2381A-9157-4B71-8D07-19129A249820}"/>
              </a:ext>
            </a:extLst>
          </p:cNvPr>
          <p:cNvSpPr>
            <a:spLocks noGrp="1"/>
          </p:cNvSpPr>
          <p:nvPr>
            <p:ph sz="half" idx="2"/>
          </p:nvPr>
        </p:nvSpPr>
        <p:spPr>
          <a:xfrm>
            <a:off x="839788" y="2505075"/>
            <a:ext cx="5157787" cy="3684588"/>
          </a:xfrm>
        </p:spPr>
        <p:txBody>
          <a:bodyPr/>
          <a:lstStyle/>
          <a:p>
            <a:pPr lvl="0"/>
            <a:r>
              <a:rPr lang="sl-SI"/>
              <a:t>Kliknite za urejanje slogov besedila matrice</a:t>
            </a:r>
          </a:p>
          <a:p>
            <a:pPr lvl="1"/>
            <a:r>
              <a:rPr lang="sl-SI"/>
              <a:t>Druga raven</a:t>
            </a:r>
          </a:p>
          <a:p>
            <a:pPr lvl="2"/>
            <a:r>
              <a:rPr lang="sl-SI"/>
              <a:t>Tretja raven</a:t>
            </a:r>
          </a:p>
          <a:p>
            <a:pPr lvl="3"/>
            <a:r>
              <a:rPr lang="sl-SI"/>
              <a:t>Četrta raven</a:t>
            </a:r>
          </a:p>
          <a:p>
            <a:pPr lvl="4"/>
            <a:r>
              <a:rPr lang="sl-SI"/>
              <a:t>Peta raven</a:t>
            </a:r>
            <a:endParaRPr lang="en-US"/>
          </a:p>
        </p:txBody>
      </p:sp>
      <p:sp>
        <p:nvSpPr>
          <p:cNvPr id="5" name="Označba mesta besedila 4">
            <a:extLst>
              <a:ext uri="{FF2B5EF4-FFF2-40B4-BE49-F238E27FC236}">
                <a16:creationId xmlns:a16="http://schemas.microsoft.com/office/drawing/2014/main" id="{99F4BC00-A82F-4FE7-BB5A-16FBF08A23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l-SI"/>
              <a:t>Kliknite za urejanje slogov besedila matrice</a:t>
            </a:r>
          </a:p>
        </p:txBody>
      </p:sp>
      <p:sp>
        <p:nvSpPr>
          <p:cNvPr id="6" name="Označba mesta vsebine 5">
            <a:extLst>
              <a:ext uri="{FF2B5EF4-FFF2-40B4-BE49-F238E27FC236}">
                <a16:creationId xmlns:a16="http://schemas.microsoft.com/office/drawing/2014/main" id="{70269ACC-CAB1-4BB3-A8F9-5BB2C4783CB5}"/>
              </a:ext>
            </a:extLst>
          </p:cNvPr>
          <p:cNvSpPr>
            <a:spLocks noGrp="1"/>
          </p:cNvSpPr>
          <p:nvPr>
            <p:ph sz="quarter" idx="4"/>
          </p:nvPr>
        </p:nvSpPr>
        <p:spPr>
          <a:xfrm>
            <a:off x="6172200" y="2505075"/>
            <a:ext cx="5183188" cy="3684588"/>
          </a:xfrm>
        </p:spPr>
        <p:txBody>
          <a:bodyPr/>
          <a:lstStyle/>
          <a:p>
            <a:pPr lvl="0"/>
            <a:r>
              <a:rPr lang="sl-SI"/>
              <a:t>Kliknite za urejanje slogov besedila matrice</a:t>
            </a:r>
          </a:p>
          <a:p>
            <a:pPr lvl="1"/>
            <a:r>
              <a:rPr lang="sl-SI"/>
              <a:t>Druga raven</a:t>
            </a:r>
          </a:p>
          <a:p>
            <a:pPr lvl="2"/>
            <a:r>
              <a:rPr lang="sl-SI"/>
              <a:t>Tretja raven</a:t>
            </a:r>
          </a:p>
          <a:p>
            <a:pPr lvl="3"/>
            <a:r>
              <a:rPr lang="sl-SI"/>
              <a:t>Četrta raven</a:t>
            </a:r>
          </a:p>
          <a:p>
            <a:pPr lvl="4"/>
            <a:r>
              <a:rPr lang="sl-SI"/>
              <a:t>Peta raven</a:t>
            </a:r>
            <a:endParaRPr lang="en-US"/>
          </a:p>
        </p:txBody>
      </p:sp>
      <p:sp>
        <p:nvSpPr>
          <p:cNvPr id="7" name="Označba mesta datuma 6">
            <a:extLst>
              <a:ext uri="{FF2B5EF4-FFF2-40B4-BE49-F238E27FC236}">
                <a16:creationId xmlns:a16="http://schemas.microsoft.com/office/drawing/2014/main" id="{BA5FD2E3-C531-4180-AB44-3E743B626C18}"/>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8" name="Označba mesta noge 7">
            <a:extLst>
              <a:ext uri="{FF2B5EF4-FFF2-40B4-BE49-F238E27FC236}">
                <a16:creationId xmlns:a16="http://schemas.microsoft.com/office/drawing/2014/main" id="{51C6703A-D07A-4545-B56A-077EC6832651}"/>
              </a:ext>
            </a:extLst>
          </p:cNvPr>
          <p:cNvSpPr>
            <a:spLocks noGrp="1"/>
          </p:cNvSpPr>
          <p:nvPr>
            <p:ph type="ftr" sz="quarter" idx="11"/>
          </p:nvPr>
        </p:nvSpPr>
        <p:spPr/>
        <p:txBody>
          <a:bodyPr/>
          <a:lstStyle/>
          <a:p>
            <a:endParaRPr lang="en-US"/>
          </a:p>
        </p:txBody>
      </p:sp>
      <p:sp>
        <p:nvSpPr>
          <p:cNvPr id="9" name="Označba mesta številke diapozitiva 8">
            <a:extLst>
              <a:ext uri="{FF2B5EF4-FFF2-40B4-BE49-F238E27FC236}">
                <a16:creationId xmlns:a16="http://schemas.microsoft.com/office/drawing/2014/main" id="{6B4D2987-173F-4B52-BCCE-7FAEB9CCE1D1}"/>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749763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amo naslov">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24DFA2F2-6083-47AA-ACEC-D88EED4D67AD}"/>
              </a:ext>
            </a:extLst>
          </p:cNvPr>
          <p:cNvSpPr>
            <a:spLocks noGrp="1"/>
          </p:cNvSpPr>
          <p:nvPr>
            <p:ph type="title"/>
          </p:nvPr>
        </p:nvSpPr>
        <p:spPr/>
        <p:txBody>
          <a:bodyPr/>
          <a:lstStyle/>
          <a:p>
            <a:r>
              <a:rPr lang="sl-SI"/>
              <a:t>Kliknite, če želite urediti slog naslova matrice</a:t>
            </a:r>
            <a:endParaRPr lang="en-US"/>
          </a:p>
        </p:txBody>
      </p:sp>
      <p:sp>
        <p:nvSpPr>
          <p:cNvPr id="3" name="Označba mesta datuma 2">
            <a:extLst>
              <a:ext uri="{FF2B5EF4-FFF2-40B4-BE49-F238E27FC236}">
                <a16:creationId xmlns:a16="http://schemas.microsoft.com/office/drawing/2014/main" id="{B782A916-6332-4DBE-9F41-61ABB30961BD}"/>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4" name="Označba mesta noge 3">
            <a:extLst>
              <a:ext uri="{FF2B5EF4-FFF2-40B4-BE49-F238E27FC236}">
                <a16:creationId xmlns:a16="http://schemas.microsoft.com/office/drawing/2014/main" id="{673E2D35-C41D-4200-8F48-C15DEFD2F703}"/>
              </a:ext>
            </a:extLst>
          </p:cNvPr>
          <p:cNvSpPr>
            <a:spLocks noGrp="1"/>
          </p:cNvSpPr>
          <p:nvPr>
            <p:ph type="ftr" sz="quarter" idx="11"/>
          </p:nvPr>
        </p:nvSpPr>
        <p:spPr/>
        <p:txBody>
          <a:bodyPr/>
          <a:lstStyle/>
          <a:p>
            <a:endParaRPr lang="en-US"/>
          </a:p>
        </p:txBody>
      </p:sp>
      <p:sp>
        <p:nvSpPr>
          <p:cNvPr id="5" name="Označba mesta številke diapozitiva 4">
            <a:extLst>
              <a:ext uri="{FF2B5EF4-FFF2-40B4-BE49-F238E27FC236}">
                <a16:creationId xmlns:a16="http://schemas.microsoft.com/office/drawing/2014/main" id="{C827A703-0C69-43D1-A41D-4BCC84DC4110}"/>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1057349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azen">
    <p:spTree>
      <p:nvGrpSpPr>
        <p:cNvPr id="1" name=""/>
        <p:cNvGrpSpPr/>
        <p:nvPr/>
      </p:nvGrpSpPr>
      <p:grpSpPr>
        <a:xfrm>
          <a:off x="0" y="0"/>
          <a:ext cx="0" cy="0"/>
          <a:chOff x="0" y="0"/>
          <a:chExt cx="0" cy="0"/>
        </a:xfrm>
      </p:grpSpPr>
      <p:sp>
        <p:nvSpPr>
          <p:cNvPr id="2" name="Označba mesta datuma 1">
            <a:extLst>
              <a:ext uri="{FF2B5EF4-FFF2-40B4-BE49-F238E27FC236}">
                <a16:creationId xmlns:a16="http://schemas.microsoft.com/office/drawing/2014/main" id="{78F4AA08-BB65-4EF3-91BD-02F6C8596188}"/>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3" name="Označba mesta noge 2">
            <a:extLst>
              <a:ext uri="{FF2B5EF4-FFF2-40B4-BE49-F238E27FC236}">
                <a16:creationId xmlns:a16="http://schemas.microsoft.com/office/drawing/2014/main" id="{7B255A83-3380-45C6-B119-AF922F5690EA}"/>
              </a:ext>
            </a:extLst>
          </p:cNvPr>
          <p:cNvSpPr>
            <a:spLocks noGrp="1"/>
          </p:cNvSpPr>
          <p:nvPr>
            <p:ph type="ftr" sz="quarter" idx="11"/>
          </p:nvPr>
        </p:nvSpPr>
        <p:spPr/>
        <p:txBody>
          <a:bodyPr/>
          <a:lstStyle/>
          <a:p>
            <a:endParaRPr lang="en-US"/>
          </a:p>
        </p:txBody>
      </p:sp>
      <p:sp>
        <p:nvSpPr>
          <p:cNvPr id="4" name="Označba mesta številke diapozitiva 3">
            <a:extLst>
              <a:ext uri="{FF2B5EF4-FFF2-40B4-BE49-F238E27FC236}">
                <a16:creationId xmlns:a16="http://schemas.microsoft.com/office/drawing/2014/main" id="{AB02026A-F6FE-49D4-BFE6-6D186DF61DC9}"/>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1315770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Vsebina z naslovom">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0F9B1A58-9137-47CB-BBCA-5810FC48A71C}"/>
              </a:ext>
            </a:extLst>
          </p:cNvPr>
          <p:cNvSpPr>
            <a:spLocks noGrp="1"/>
          </p:cNvSpPr>
          <p:nvPr>
            <p:ph type="title"/>
          </p:nvPr>
        </p:nvSpPr>
        <p:spPr>
          <a:xfrm>
            <a:off x="839788" y="457200"/>
            <a:ext cx="3932237" cy="1600200"/>
          </a:xfrm>
        </p:spPr>
        <p:txBody>
          <a:bodyPr anchor="b"/>
          <a:lstStyle>
            <a:lvl1pPr>
              <a:defRPr sz="3200"/>
            </a:lvl1pPr>
          </a:lstStyle>
          <a:p>
            <a:r>
              <a:rPr lang="sl-SI"/>
              <a:t>Kliknite, če želite urediti slog naslova matrice</a:t>
            </a:r>
            <a:endParaRPr lang="en-US"/>
          </a:p>
        </p:txBody>
      </p:sp>
      <p:sp>
        <p:nvSpPr>
          <p:cNvPr id="3" name="Označba mesta vsebine 2">
            <a:extLst>
              <a:ext uri="{FF2B5EF4-FFF2-40B4-BE49-F238E27FC236}">
                <a16:creationId xmlns:a16="http://schemas.microsoft.com/office/drawing/2014/main" id="{D34D81AA-5B1C-49AF-B851-7D4915D014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l-SI"/>
              <a:t>Kliknite za urejanje slogov besedila matrice</a:t>
            </a:r>
          </a:p>
          <a:p>
            <a:pPr lvl="1"/>
            <a:r>
              <a:rPr lang="sl-SI"/>
              <a:t>Druga raven</a:t>
            </a:r>
          </a:p>
          <a:p>
            <a:pPr lvl="2"/>
            <a:r>
              <a:rPr lang="sl-SI"/>
              <a:t>Tretja raven</a:t>
            </a:r>
          </a:p>
          <a:p>
            <a:pPr lvl="3"/>
            <a:r>
              <a:rPr lang="sl-SI"/>
              <a:t>Četrta raven</a:t>
            </a:r>
          </a:p>
          <a:p>
            <a:pPr lvl="4"/>
            <a:r>
              <a:rPr lang="sl-SI"/>
              <a:t>Peta raven</a:t>
            </a:r>
            <a:endParaRPr lang="en-US"/>
          </a:p>
        </p:txBody>
      </p:sp>
      <p:sp>
        <p:nvSpPr>
          <p:cNvPr id="4" name="Označba mesta besedila 3">
            <a:extLst>
              <a:ext uri="{FF2B5EF4-FFF2-40B4-BE49-F238E27FC236}">
                <a16:creationId xmlns:a16="http://schemas.microsoft.com/office/drawing/2014/main" id="{2626896B-979F-4CDD-AA20-03CB2B980D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l-SI"/>
              <a:t>Kliknite za urejanje slogov besedila matrice</a:t>
            </a:r>
          </a:p>
        </p:txBody>
      </p:sp>
      <p:sp>
        <p:nvSpPr>
          <p:cNvPr id="5" name="Označba mesta datuma 4">
            <a:extLst>
              <a:ext uri="{FF2B5EF4-FFF2-40B4-BE49-F238E27FC236}">
                <a16:creationId xmlns:a16="http://schemas.microsoft.com/office/drawing/2014/main" id="{8C1F4AC8-0A94-441B-8B2C-51F64A70809C}"/>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6" name="Označba mesta noge 5">
            <a:extLst>
              <a:ext uri="{FF2B5EF4-FFF2-40B4-BE49-F238E27FC236}">
                <a16:creationId xmlns:a16="http://schemas.microsoft.com/office/drawing/2014/main" id="{36474F55-6073-465D-AA7F-187F7E2DE665}"/>
              </a:ext>
            </a:extLst>
          </p:cNvPr>
          <p:cNvSpPr>
            <a:spLocks noGrp="1"/>
          </p:cNvSpPr>
          <p:nvPr>
            <p:ph type="ftr" sz="quarter" idx="11"/>
          </p:nvPr>
        </p:nvSpPr>
        <p:spPr/>
        <p:txBody>
          <a:bodyPr/>
          <a:lstStyle/>
          <a:p>
            <a:endParaRPr lang="en-US"/>
          </a:p>
        </p:txBody>
      </p:sp>
      <p:sp>
        <p:nvSpPr>
          <p:cNvPr id="7" name="Označba mesta številke diapozitiva 6">
            <a:extLst>
              <a:ext uri="{FF2B5EF4-FFF2-40B4-BE49-F238E27FC236}">
                <a16:creationId xmlns:a16="http://schemas.microsoft.com/office/drawing/2014/main" id="{C2075757-314D-4A1C-BBF2-12067A24BE22}"/>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203787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Naslov in slika">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7C09AE7E-2004-42C5-B5BA-AA6DEB5381BC}"/>
              </a:ext>
            </a:extLst>
          </p:cNvPr>
          <p:cNvSpPr>
            <a:spLocks noGrp="1"/>
          </p:cNvSpPr>
          <p:nvPr>
            <p:ph type="title"/>
          </p:nvPr>
        </p:nvSpPr>
        <p:spPr>
          <a:xfrm>
            <a:off x="839788" y="457200"/>
            <a:ext cx="3932237" cy="1600200"/>
          </a:xfrm>
        </p:spPr>
        <p:txBody>
          <a:bodyPr anchor="b"/>
          <a:lstStyle>
            <a:lvl1pPr>
              <a:defRPr sz="3200"/>
            </a:lvl1pPr>
          </a:lstStyle>
          <a:p>
            <a:r>
              <a:rPr lang="sl-SI"/>
              <a:t>Kliknite, če želite urediti slog naslova matrice</a:t>
            </a:r>
            <a:endParaRPr lang="en-US"/>
          </a:p>
        </p:txBody>
      </p:sp>
      <p:sp>
        <p:nvSpPr>
          <p:cNvPr id="3" name="Označba mesta slike 2">
            <a:extLst>
              <a:ext uri="{FF2B5EF4-FFF2-40B4-BE49-F238E27FC236}">
                <a16:creationId xmlns:a16="http://schemas.microsoft.com/office/drawing/2014/main" id="{9CFBBCBA-C616-4DA0-9BD7-692812907C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Označba mesta besedila 3">
            <a:extLst>
              <a:ext uri="{FF2B5EF4-FFF2-40B4-BE49-F238E27FC236}">
                <a16:creationId xmlns:a16="http://schemas.microsoft.com/office/drawing/2014/main" id="{79D93748-6E4B-4A9B-859B-CC948B1164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l-SI"/>
              <a:t>Kliknite za urejanje slogov besedila matrice</a:t>
            </a:r>
          </a:p>
        </p:txBody>
      </p:sp>
      <p:sp>
        <p:nvSpPr>
          <p:cNvPr id="5" name="Označba mesta datuma 4">
            <a:extLst>
              <a:ext uri="{FF2B5EF4-FFF2-40B4-BE49-F238E27FC236}">
                <a16:creationId xmlns:a16="http://schemas.microsoft.com/office/drawing/2014/main" id="{463E0AFE-C0D2-41EA-A8E7-FB847317ECC9}"/>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6" name="Označba mesta noge 5">
            <a:extLst>
              <a:ext uri="{FF2B5EF4-FFF2-40B4-BE49-F238E27FC236}">
                <a16:creationId xmlns:a16="http://schemas.microsoft.com/office/drawing/2014/main" id="{B26AB2E8-3E40-4C6E-AE6E-F50B799354A3}"/>
              </a:ext>
            </a:extLst>
          </p:cNvPr>
          <p:cNvSpPr>
            <a:spLocks noGrp="1"/>
          </p:cNvSpPr>
          <p:nvPr>
            <p:ph type="ftr" sz="quarter" idx="11"/>
          </p:nvPr>
        </p:nvSpPr>
        <p:spPr/>
        <p:txBody>
          <a:bodyPr/>
          <a:lstStyle/>
          <a:p>
            <a:endParaRPr lang="en-US"/>
          </a:p>
        </p:txBody>
      </p:sp>
      <p:sp>
        <p:nvSpPr>
          <p:cNvPr id="7" name="Označba mesta številke diapozitiva 6">
            <a:extLst>
              <a:ext uri="{FF2B5EF4-FFF2-40B4-BE49-F238E27FC236}">
                <a16:creationId xmlns:a16="http://schemas.microsoft.com/office/drawing/2014/main" id="{A84FA191-0250-4FFB-95EA-37867DEE7F1F}"/>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3761141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slov in navpično besedilo">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0A3630AD-D009-45F2-997C-E320B5D7686C}"/>
              </a:ext>
            </a:extLst>
          </p:cNvPr>
          <p:cNvSpPr>
            <a:spLocks noGrp="1"/>
          </p:cNvSpPr>
          <p:nvPr>
            <p:ph type="title"/>
          </p:nvPr>
        </p:nvSpPr>
        <p:spPr/>
        <p:txBody>
          <a:bodyPr/>
          <a:lstStyle/>
          <a:p>
            <a:r>
              <a:rPr lang="sl-SI"/>
              <a:t>Kliknite, če želite urediti slog naslova matrice</a:t>
            </a:r>
            <a:endParaRPr lang="en-US"/>
          </a:p>
        </p:txBody>
      </p:sp>
      <p:sp>
        <p:nvSpPr>
          <p:cNvPr id="3" name="Označba mesta navpičnega besedila 2">
            <a:extLst>
              <a:ext uri="{FF2B5EF4-FFF2-40B4-BE49-F238E27FC236}">
                <a16:creationId xmlns:a16="http://schemas.microsoft.com/office/drawing/2014/main" id="{A789067D-FFEE-4B3B-9623-3BB160C8458B}"/>
              </a:ext>
            </a:extLst>
          </p:cNvPr>
          <p:cNvSpPr>
            <a:spLocks noGrp="1"/>
          </p:cNvSpPr>
          <p:nvPr>
            <p:ph type="body" orient="vert" idx="1"/>
          </p:nvPr>
        </p:nvSpPr>
        <p:spPr/>
        <p:txBody>
          <a:bodyPr vert="eaVert"/>
          <a:lstStyle/>
          <a:p>
            <a:pPr lvl="0"/>
            <a:r>
              <a:rPr lang="sl-SI"/>
              <a:t>Kliknite za urejanje slogov besedila matrice</a:t>
            </a:r>
          </a:p>
          <a:p>
            <a:pPr lvl="1"/>
            <a:r>
              <a:rPr lang="sl-SI"/>
              <a:t>Druga raven</a:t>
            </a:r>
          </a:p>
          <a:p>
            <a:pPr lvl="2"/>
            <a:r>
              <a:rPr lang="sl-SI"/>
              <a:t>Tretja raven</a:t>
            </a:r>
          </a:p>
          <a:p>
            <a:pPr lvl="3"/>
            <a:r>
              <a:rPr lang="sl-SI"/>
              <a:t>Četrta raven</a:t>
            </a:r>
          </a:p>
          <a:p>
            <a:pPr lvl="4"/>
            <a:r>
              <a:rPr lang="sl-SI"/>
              <a:t>Peta raven</a:t>
            </a:r>
            <a:endParaRPr lang="en-US"/>
          </a:p>
        </p:txBody>
      </p:sp>
      <p:sp>
        <p:nvSpPr>
          <p:cNvPr id="4" name="Označba mesta datuma 3">
            <a:extLst>
              <a:ext uri="{FF2B5EF4-FFF2-40B4-BE49-F238E27FC236}">
                <a16:creationId xmlns:a16="http://schemas.microsoft.com/office/drawing/2014/main" id="{3038C38B-CF9A-4502-86CE-1CB76A2468C6}"/>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5" name="Označba mesta noge 4">
            <a:extLst>
              <a:ext uri="{FF2B5EF4-FFF2-40B4-BE49-F238E27FC236}">
                <a16:creationId xmlns:a16="http://schemas.microsoft.com/office/drawing/2014/main" id="{A163EBA7-C11E-4CBE-94CE-8188784270D3}"/>
              </a:ext>
            </a:extLst>
          </p:cNvPr>
          <p:cNvSpPr>
            <a:spLocks noGrp="1"/>
          </p:cNvSpPr>
          <p:nvPr>
            <p:ph type="ftr" sz="quarter" idx="11"/>
          </p:nvPr>
        </p:nvSpPr>
        <p:spPr/>
        <p:txBody>
          <a:bodyPr/>
          <a:lstStyle/>
          <a:p>
            <a:endParaRPr lang="en-US"/>
          </a:p>
        </p:txBody>
      </p:sp>
      <p:sp>
        <p:nvSpPr>
          <p:cNvPr id="6" name="Označba mesta številke diapozitiva 5">
            <a:extLst>
              <a:ext uri="{FF2B5EF4-FFF2-40B4-BE49-F238E27FC236}">
                <a16:creationId xmlns:a16="http://schemas.microsoft.com/office/drawing/2014/main" id="{55D60CA2-2EF1-4E4D-9C0C-91CC449EC9F4}"/>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2592285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Navpični naslov in besedilo">
    <p:spTree>
      <p:nvGrpSpPr>
        <p:cNvPr id="1" name=""/>
        <p:cNvGrpSpPr/>
        <p:nvPr/>
      </p:nvGrpSpPr>
      <p:grpSpPr>
        <a:xfrm>
          <a:off x="0" y="0"/>
          <a:ext cx="0" cy="0"/>
          <a:chOff x="0" y="0"/>
          <a:chExt cx="0" cy="0"/>
        </a:xfrm>
      </p:grpSpPr>
      <p:sp>
        <p:nvSpPr>
          <p:cNvPr id="2" name="Navpični naslov 1">
            <a:extLst>
              <a:ext uri="{FF2B5EF4-FFF2-40B4-BE49-F238E27FC236}">
                <a16:creationId xmlns:a16="http://schemas.microsoft.com/office/drawing/2014/main" id="{59378B14-4247-40EA-9FD7-D80D757A9189}"/>
              </a:ext>
            </a:extLst>
          </p:cNvPr>
          <p:cNvSpPr>
            <a:spLocks noGrp="1"/>
          </p:cNvSpPr>
          <p:nvPr>
            <p:ph type="title" orient="vert"/>
          </p:nvPr>
        </p:nvSpPr>
        <p:spPr>
          <a:xfrm>
            <a:off x="8724900" y="365125"/>
            <a:ext cx="2628900" cy="5811838"/>
          </a:xfrm>
        </p:spPr>
        <p:txBody>
          <a:bodyPr vert="eaVert"/>
          <a:lstStyle/>
          <a:p>
            <a:r>
              <a:rPr lang="sl-SI"/>
              <a:t>Kliknite, če želite urediti slog naslova matrice</a:t>
            </a:r>
            <a:endParaRPr lang="en-US"/>
          </a:p>
        </p:txBody>
      </p:sp>
      <p:sp>
        <p:nvSpPr>
          <p:cNvPr id="3" name="Označba mesta navpičnega besedila 2">
            <a:extLst>
              <a:ext uri="{FF2B5EF4-FFF2-40B4-BE49-F238E27FC236}">
                <a16:creationId xmlns:a16="http://schemas.microsoft.com/office/drawing/2014/main" id="{2EF110C0-E3C9-42FD-8303-D8733F1F3A6C}"/>
              </a:ext>
            </a:extLst>
          </p:cNvPr>
          <p:cNvSpPr>
            <a:spLocks noGrp="1"/>
          </p:cNvSpPr>
          <p:nvPr>
            <p:ph type="body" orient="vert" idx="1"/>
          </p:nvPr>
        </p:nvSpPr>
        <p:spPr>
          <a:xfrm>
            <a:off x="838200" y="365125"/>
            <a:ext cx="7734300" cy="5811838"/>
          </a:xfrm>
        </p:spPr>
        <p:txBody>
          <a:bodyPr vert="eaVert"/>
          <a:lstStyle/>
          <a:p>
            <a:pPr lvl="0"/>
            <a:r>
              <a:rPr lang="sl-SI"/>
              <a:t>Kliknite za urejanje slogov besedila matrice</a:t>
            </a:r>
          </a:p>
          <a:p>
            <a:pPr lvl="1"/>
            <a:r>
              <a:rPr lang="sl-SI"/>
              <a:t>Druga raven</a:t>
            </a:r>
          </a:p>
          <a:p>
            <a:pPr lvl="2"/>
            <a:r>
              <a:rPr lang="sl-SI"/>
              <a:t>Tretja raven</a:t>
            </a:r>
          </a:p>
          <a:p>
            <a:pPr lvl="3"/>
            <a:r>
              <a:rPr lang="sl-SI"/>
              <a:t>Četrta raven</a:t>
            </a:r>
          </a:p>
          <a:p>
            <a:pPr lvl="4"/>
            <a:r>
              <a:rPr lang="sl-SI"/>
              <a:t>Peta raven</a:t>
            </a:r>
            <a:endParaRPr lang="en-US"/>
          </a:p>
        </p:txBody>
      </p:sp>
      <p:sp>
        <p:nvSpPr>
          <p:cNvPr id="4" name="Označba mesta datuma 3">
            <a:extLst>
              <a:ext uri="{FF2B5EF4-FFF2-40B4-BE49-F238E27FC236}">
                <a16:creationId xmlns:a16="http://schemas.microsoft.com/office/drawing/2014/main" id="{A7E7446C-A8E3-4683-971B-6B1921D1AE89}"/>
              </a:ext>
            </a:extLst>
          </p:cNvPr>
          <p:cNvSpPr>
            <a:spLocks noGrp="1"/>
          </p:cNvSpPr>
          <p:nvPr>
            <p:ph type="dt" sz="half" idx="10"/>
          </p:nvPr>
        </p:nvSpPr>
        <p:spPr/>
        <p:txBody>
          <a:bodyPr/>
          <a:lstStyle/>
          <a:p>
            <a:fld id="{1FC53F66-95B7-4ACD-823B-2BC55C072823}" type="datetimeFigureOut">
              <a:rPr lang="en-US" smtClean="0"/>
              <a:t>3/3/2022</a:t>
            </a:fld>
            <a:endParaRPr lang="en-US"/>
          </a:p>
        </p:txBody>
      </p:sp>
      <p:sp>
        <p:nvSpPr>
          <p:cNvPr id="5" name="Označba mesta noge 4">
            <a:extLst>
              <a:ext uri="{FF2B5EF4-FFF2-40B4-BE49-F238E27FC236}">
                <a16:creationId xmlns:a16="http://schemas.microsoft.com/office/drawing/2014/main" id="{04F56053-05C9-4C6E-AD92-F66E91050479}"/>
              </a:ext>
            </a:extLst>
          </p:cNvPr>
          <p:cNvSpPr>
            <a:spLocks noGrp="1"/>
          </p:cNvSpPr>
          <p:nvPr>
            <p:ph type="ftr" sz="quarter" idx="11"/>
          </p:nvPr>
        </p:nvSpPr>
        <p:spPr/>
        <p:txBody>
          <a:bodyPr/>
          <a:lstStyle/>
          <a:p>
            <a:endParaRPr lang="en-US"/>
          </a:p>
        </p:txBody>
      </p:sp>
      <p:sp>
        <p:nvSpPr>
          <p:cNvPr id="6" name="Označba mesta številke diapozitiva 5">
            <a:extLst>
              <a:ext uri="{FF2B5EF4-FFF2-40B4-BE49-F238E27FC236}">
                <a16:creationId xmlns:a16="http://schemas.microsoft.com/office/drawing/2014/main" id="{58144789-ADAA-4D16-88A4-EFCF8DF16321}"/>
              </a:ext>
            </a:extLst>
          </p:cNvPr>
          <p:cNvSpPr>
            <a:spLocks noGrp="1"/>
          </p:cNvSpPr>
          <p:nvPr>
            <p:ph type="sldNum" sz="quarter" idx="12"/>
          </p:nvPr>
        </p:nvSpPr>
        <p:spPr/>
        <p:txBody>
          <a:bodyPr/>
          <a:lstStyle/>
          <a:p>
            <a:fld id="{8A49C8A5-D442-43DD-BEB5-ECE1A3C33B9A}" type="slidenum">
              <a:rPr lang="en-US" smtClean="0"/>
              <a:t>‹#›</a:t>
            </a:fld>
            <a:endParaRPr lang="en-US"/>
          </a:p>
        </p:txBody>
      </p:sp>
    </p:spTree>
    <p:extLst>
      <p:ext uri="{BB962C8B-B14F-4D97-AF65-F5344CB8AC3E}">
        <p14:creationId xmlns:p14="http://schemas.microsoft.com/office/powerpoint/2010/main" val="768703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značba mesta naslova 1">
            <a:extLst>
              <a:ext uri="{FF2B5EF4-FFF2-40B4-BE49-F238E27FC236}">
                <a16:creationId xmlns:a16="http://schemas.microsoft.com/office/drawing/2014/main" id="{EBD64180-4D38-4D5B-8308-02876E6AE6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l-SI"/>
              <a:t>Kliknite, če želite urediti slog naslova matrice</a:t>
            </a:r>
            <a:endParaRPr lang="en-US"/>
          </a:p>
        </p:txBody>
      </p:sp>
      <p:sp>
        <p:nvSpPr>
          <p:cNvPr id="3" name="Označba mesta besedila 2">
            <a:extLst>
              <a:ext uri="{FF2B5EF4-FFF2-40B4-BE49-F238E27FC236}">
                <a16:creationId xmlns:a16="http://schemas.microsoft.com/office/drawing/2014/main" id="{CABAAC0A-F7F8-4441-97F4-BE12E6AADF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l-SI"/>
              <a:t>Kliknite za urejanje slogov besedila matrice</a:t>
            </a:r>
          </a:p>
          <a:p>
            <a:pPr lvl="1"/>
            <a:r>
              <a:rPr lang="sl-SI"/>
              <a:t>Druga raven</a:t>
            </a:r>
          </a:p>
          <a:p>
            <a:pPr lvl="2"/>
            <a:r>
              <a:rPr lang="sl-SI"/>
              <a:t>Tretja raven</a:t>
            </a:r>
          </a:p>
          <a:p>
            <a:pPr lvl="3"/>
            <a:r>
              <a:rPr lang="sl-SI"/>
              <a:t>Četrta raven</a:t>
            </a:r>
          </a:p>
          <a:p>
            <a:pPr lvl="4"/>
            <a:r>
              <a:rPr lang="sl-SI"/>
              <a:t>Peta raven</a:t>
            </a:r>
            <a:endParaRPr lang="en-US"/>
          </a:p>
        </p:txBody>
      </p:sp>
      <p:sp>
        <p:nvSpPr>
          <p:cNvPr id="4" name="Označba mesta datuma 3">
            <a:extLst>
              <a:ext uri="{FF2B5EF4-FFF2-40B4-BE49-F238E27FC236}">
                <a16:creationId xmlns:a16="http://schemas.microsoft.com/office/drawing/2014/main" id="{646E390F-E1F7-487A-BF2B-FA902DC3FD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C53F66-95B7-4ACD-823B-2BC55C072823}" type="datetimeFigureOut">
              <a:rPr lang="en-US" smtClean="0"/>
              <a:t>3/3/2022</a:t>
            </a:fld>
            <a:endParaRPr lang="en-US"/>
          </a:p>
        </p:txBody>
      </p:sp>
      <p:sp>
        <p:nvSpPr>
          <p:cNvPr id="5" name="Označba mesta noge 4">
            <a:extLst>
              <a:ext uri="{FF2B5EF4-FFF2-40B4-BE49-F238E27FC236}">
                <a16:creationId xmlns:a16="http://schemas.microsoft.com/office/drawing/2014/main" id="{AAEB724E-BE25-4AEF-978F-1730C43239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Označba mesta številke diapozitiva 5">
            <a:extLst>
              <a:ext uri="{FF2B5EF4-FFF2-40B4-BE49-F238E27FC236}">
                <a16:creationId xmlns:a16="http://schemas.microsoft.com/office/drawing/2014/main" id="{6E037D0F-D242-43E1-A94A-EC64E77DA5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49C8A5-D442-43DD-BEB5-ECE1A3C33B9A}" type="slidenum">
              <a:rPr lang="en-US" smtClean="0"/>
              <a:t>‹#›</a:t>
            </a:fld>
            <a:endParaRPr lang="en-US"/>
          </a:p>
        </p:txBody>
      </p:sp>
    </p:spTree>
    <p:extLst>
      <p:ext uri="{BB962C8B-B14F-4D97-AF65-F5344CB8AC3E}">
        <p14:creationId xmlns:p14="http://schemas.microsoft.com/office/powerpoint/2010/main" val="1500144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l-S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1" Type="http://schemas.openxmlformats.org/officeDocument/2006/relationships/image" Target="../media/image7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13.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6.svg"/><Relationship Id="rId21" Type="http://schemas.openxmlformats.org/officeDocument/2006/relationships/image" Target="../media/image216.png"/><Relationship Id="rId7" Type="http://schemas.openxmlformats.org/officeDocument/2006/relationships/image" Target="../media/image210.png"/><Relationship Id="rId12" Type="http://schemas.openxmlformats.org/officeDocument/2006/relationships/customXml" Target="../ink/ink6.xml"/><Relationship Id="rId17" Type="http://schemas.openxmlformats.org/officeDocument/2006/relationships/image" Target="../media/image215.png"/><Relationship Id="rId25" Type="http://schemas.openxmlformats.org/officeDocument/2006/relationships/image" Target="../media/image218.png"/><Relationship Id="rId2" Type="http://schemas.openxmlformats.org/officeDocument/2006/relationships/image" Target="../media/image5.png"/><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212.png"/><Relationship Id="rId24" Type="http://schemas.openxmlformats.org/officeDocument/2006/relationships/customXml" Target="../ink/ink12.xml"/><Relationship Id="rId5" Type="http://schemas.openxmlformats.org/officeDocument/2006/relationships/image" Target="../media/image209.png"/><Relationship Id="rId15" Type="http://schemas.openxmlformats.org/officeDocument/2006/relationships/image" Target="../media/image214.png"/><Relationship Id="rId23" Type="http://schemas.openxmlformats.org/officeDocument/2006/relationships/image" Target="../media/image217.png"/><Relationship Id="rId10" Type="http://schemas.openxmlformats.org/officeDocument/2006/relationships/customXml" Target="../ink/ink5.xml"/><Relationship Id="rId19" Type="http://schemas.openxmlformats.org/officeDocument/2006/relationships/image" Target="../media/image112.png"/><Relationship Id="rId4" Type="http://schemas.openxmlformats.org/officeDocument/2006/relationships/customXml" Target="../ink/ink2.xml"/><Relationship Id="rId9" Type="http://schemas.openxmlformats.org/officeDocument/2006/relationships/image" Target="../media/image211.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19.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8" Type="http://schemas.openxmlformats.org/officeDocument/2006/relationships/image" Target="../media/image320.png"/><Relationship Id="rId3" Type="http://schemas.openxmlformats.org/officeDocument/2006/relationships/image" Target="../media/image13.png"/><Relationship Id="rId97" Type="http://schemas.openxmlformats.org/officeDocument/2006/relationships/customXml" Target="../ink/ink15.xml"/><Relationship Id="rId103" Type="http://schemas.openxmlformats.org/officeDocument/2006/relationships/image" Target="../media/image15.png"/><Relationship Id="rId2" Type="http://schemas.openxmlformats.org/officeDocument/2006/relationships/image" Target="../media/image12.png"/><Relationship Id="rId96" Type="http://schemas.openxmlformats.org/officeDocument/2006/relationships/image" Target="../media/image319.png"/><Relationship Id="rId1" Type="http://schemas.openxmlformats.org/officeDocument/2006/relationships/slideLayout" Target="../slideLayouts/slideLayout2.xml"/><Relationship Id="rId102" Type="http://schemas.openxmlformats.org/officeDocument/2006/relationships/image" Target="../media/image322.png"/><Relationship Id="rId5" Type="http://schemas.openxmlformats.org/officeDocument/2006/relationships/customXml" Target="../ink/ink14.xml"/><Relationship Id="rId99" Type="http://schemas.openxmlformats.org/officeDocument/2006/relationships/customXml" Target="../ink/ink16.xml"/><Relationship Id="rId101" Type="http://schemas.openxmlformats.org/officeDocument/2006/relationships/customXml" Target="../ink/ink17.xml"/><Relationship Id="rId4" Type="http://schemas.openxmlformats.org/officeDocument/2006/relationships/image" Target="../media/image14.svg"/><Relationship Id="rId100" Type="http://schemas.openxmlformats.org/officeDocument/2006/relationships/image" Target="../media/image321.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E1518445-093B-4505-BBD3-E8098AEBDA77}"/>
              </a:ext>
            </a:extLst>
          </p:cNvPr>
          <p:cNvSpPr>
            <a:spLocks noGrp="1"/>
          </p:cNvSpPr>
          <p:nvPr>
            <p:ph type="ctrTitle"/>
          </p:nvPr>
        </p:nvSpPr>
        <p:spPr/>
        <p:txBody>
          <a:bodyPr/>
          <a:lstStyle/>
          <a:p>
            <a:r>
              <a:rPr lang="sl-SI" dirty="0"/>
              <a:t>Numerične metode</a:t>
            </a:r>
            <a:br>
              <a:rPr lang="sl-SI" dirty="0"/>
            </a:br>
            <a:r>
              <a:rPr lang="sl-SI" dirty="0"/>
              <a:t>VAJE 02</a:t>
            </a:r>
            <a:endParaRPr lang="en-US" dirty="0"/>
          </a:p>
        </p:txBody>
      </p:sp>
      <p:sp>
        <p:nvSpPr>
          <p:cNvPr id="3" name="Podnaslov 2">
            <a:extLst>
              <a:ext uri="{FF2B5EF4-FFF2-40B4-BE49-F238E27FC236}">
                <a16:creationId xmlns:a16="http://schemas.microsoft.com/office/drawing/2014/main" id="{E25DD246-2AC2-436A-BCEB-3FB538AE86DA}"/>
              </a:ext>
            </a:extLst>
          </p:cNvPr>
          <p:cNvSpPr>
            <a:spLocks noGrp="1"/>
          </p:cNvSpPr>
          <p:nvPr>
            <p:ph type="subTitle" idx="1"/>
          </p:nvPr>
        </p:nvSpPr>
        <p:spPr/>
        <p:txBody>
          <a:bodyPr/>
          <a:lstStyle/>
          <a:p>
            <a:r>
              <a:rPr lang="sl-SI" dirty="0"/>
              <a:t>Iskanje ničel</a:t>
            </a:r>
            <a:endParaRPr lang="en-US" dirty="0"/>
          </a:p>
        </p:txBody>
      </p:sp>
    </p:spTree>
    <p:extLst>
      <p:ext uri="{BB962C8B-B14F-4D97-AF65-F5344CB8AC3E}">
        <p14:creationId xmlns:p14="http://schemas.microsoft.com/office/powerpoint/2010/main" val="938705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06EEDCF1-A0DC-4E39-AC9E-81BA971FF4A0}"/>
              </a:ext>
            </a:extLst>
          </p:cNvPr>
          <p:cNvSpPr>
            <a:spLocks noGrp="1"/>
          </p:cNvSpPr>
          <p:nvPr>
            <p:ph type="title"/>
          </p:nvPr>
        </p:nvSpPr>
        <p:spPr/>
        <p:txBody>
          <a:bodyPr/>
          <a:lstStyle/>
          <a:p>
            <a:r>
              <a:rPr lang="sl-SI" dirty="0"/>
              <a:t>Iskanje ničel (analitično)</a:t>
            </a:r>
            <a:endParaRPr lang="en-US" dirty="0"/>
          </a:p>
        </p:txBody>
      </p:sp>
      <mc:AlternateContent xmlns:mc="http://schemas.openxmlformats.org/markup-compatibility/2006">
        <mc:Choice xmlns:a14="http://schemas.microsoft.com/office/drawing/2010/main" Requires="a14">
          <p:sp>
            <p:nvSpPr>
              <p:cNvPr id="3" name="Označba mesta vsebine 2">
                <a:extLst>
                  <a:ext uri="{FF2B5EF4-FFF2-40B4-BE49-F238E27FC236}">
                    <a16:creationId xmlns:a16="http://schemas.microsoft.com/office/drawing/2014/main" id="{B35DDC75-2395-4D73-AF79-BBCE6DAD3C81}"/>
                  </a:ext>
                </a:extLst>
              </p:cNvPr>
              <p:cNvSpPr>
                <a:spLocks noGrp="1"/>
              </p:cNvSpPr>
              <p:nvPr>
                <p:ph idx="1"/>
              </p:nvPr>
            </p:nvSpPr>
            <p:spPr>
              <a:xfrm>
                <a:off x="838200" y="1825625"/>
                <a:ext cx="10515600" cy="4667250"/>
              </a:xfrm>
            </p:spPr>
            <p:txBody>
              <a:bodyPr>
                <a:normAutofit/>
              </a:bodyPr>
              <a:lstStyle/>
              <a:p>
                <a:pPr marL="0" indent="0" algn="just">
                  <a:buNone/>
                </a:pPr>
                <a:r>
                  <a:rPr lang="sl-SI" b="1" dirty="0"/>
                  <a:t>Motivacija</a:t>
                </a:r>
              </a:p>
              <a:p>
                <a:pPr marL="0" indent="0" algn="just">
                  <a:buNone/>
                </a:pPr>
                <a:r>
                  <a:rPr lang="sl-SI" dirty="0"/>
                  <a:t>Ničla</a:t>
                </a:r>
                <a:r>
                  <a:rPr lang="en-US" dirty="0"/>
                  <a:t> </a:t>
                </a:r>
                <a:r>
                  <a:rPr lang="sl-SI" dirty="0"/>
                  <a:t>funkcije</a:t>
                </a:r>
                <a:r>
                  <a:rPr lang="en-US" dirty="0"/>
                  <a:t> </a:t>
                </a:r>
                <a:r>
                  <a:rPr lang="en-US" i="1" dirty="0"/>
                  <a:t>f</a:t>
                </a:r>
                <a:r>
                  <a:rPr lang="sl-SI" dirty="0"/>
                  <a:t>(</a:t>
                </a:r>
                <a:r>
                  <a:rPr lang="sl-SI" i="1" dirty="0"/>
                  <a:t>x</a:t>
                </a:r>
                <a:r>
                  <a:rPr lang="sl-SI" dirty="0"/>
                  <a:t>)</a:t>
                </a:r>
                <a:r>
                  <a:rPr lang="en-US" dirty="0"/>
                  <a:t> je v </a:t>
                </a:r>
                <a:r>
                  <a:rPr lang="sl-SI" dirty="0"/>
                  <a:t>matematiki tisto število,</a:t>
                </a:r>
                <a:r>
                  <a:rPr lang="en-US" dirty="0"/>
                  <a:t> </a:t>
                </a:r>
                <a:r>
                  <a:rPr lang="en-US" i="1" dirty="0"/>
                  <a:t>x</a:t>
                </a:r>
                <a:r>
                  <a:rPr lang="sl-SI" i="1" dirty="0"/>
                  <a:t>*</a:t>
                </a:r>
                <a:r>
                  <a:rPr lang="en-US" dirty="0"/>
                  <a:t>, </a:t>
                </a:r>
                <a:r>
                  <a:rPr lang="sl-SI" dirty="0"/>
                  <a:t>pri katerem je vrednost funkcije</a:t>
                </a:r>
                <a:r>
                  <a:rPr lang="en-US" dirty="0"/>
                  <a:t>  </a:t>
                </a:r>
                <a:r>
                  <a:rPr lang="en-US" i="1" dirty="0"/>
                  <a:t>f</a:t>
                </a:r>
                <a:r>
                  <a:rPr lang="sl-SI" dirty="0"/>
                  <a:t>(</a:t>
                </a:r>
                <a:r>
                  <a:rPr lang="en-US" i="1" dirty="0"/>
                  <a:t>x</a:t>
                </a:r>
                <a:r>
                  <a:rPr lang="sl-SI" i="1" dirty="0"/>
                  <a:t>*</a:t>
                </a:r>
                <a:r>
                  <a:rPr lang="sl-SI" dirty="0"/>
                  <a:t>)</a:t>
                </a:r>
                <a:r>
                  <a:rPr lang="en-US" dirty="0"/>
                  <a:t> </a:t>
                </a:r>
                <a:r>
                  <a:rPr lang="sl-SI" dirty="0"/>
                  <a:t>enaka</a:t>
                </a:r>
                <a:r>
                  <a:rPr lang="en-US" dirty="0"/>
                  <a:t> 0. </a:t>
                </a:r>
                <a:r>
                  <a:rPr lang="sl-SI" dirty="0"/>
                  <a:t>Torej ničlo funkcije poiščemo tako</a:t>
                </a:r>
                <a:r>
                  <a:rPr lang="en-US" dirty="0"/>
                  <a:t>, da </a:t>
                </a:r>
                <a:r>
                  <a:rPr lang="sl-SI" dirty="0"/>
                  <a:t>rešimo enačbo</a:t>
                </a:r>
                <a:r>
                  <a:rPr lang="en-US" dirty="0"/>
                  <a:t>:</a:t>
                </a:r>
                <a:endParaRPr lang="sl-SI" dirty="0"/>
              </a:p>
              <a:p>
                <a:pPr marL="0" indent="0" algn="just">
                  <a:buNone/>
                </a:pPr>
                <a14:m>
                  <m:oMathPara xmlns:m="http://schemas.openxmlformats.org/officeDocument/2006/math">
                    <m:oMathParaPr>
                      <m:jc m:val="centerGroup"/>
                    </m:oMathParaPr>
                    <m:oMath xmlns:m="http://schemas.openxmlformats.org/officeDocument/2006/math">
                      <m:r>
                        <a:rPr lang="sl-SI" b="0" i="1" smtClean="0">
                          <a:latin typeface="Cambria Math" panose="02040503050406030204" pitchFamily="18" charset="0"/>
                        </a:rPr>
                        <m:t>𝑓</m:t>
                      </m:r>
                      <m:d>
                        <m:dPr>
                          <m:ctrlPr>
                            <a:rPr lang="sl-SI" b="0" i="1" smtClean="0">
                              <a:latin typeface="Cambria Math" panose="02040503050406030204" pitchFamily="18" charset="0"/>
                            </a:rPr>
                          </m:ctrlPr>
                        </m:dPr>
                        <m:e>
                          <m:sSup>
                            <m:sSupPr>
                              <m:ctrlPr>
                                <a:rPr lang="sl-SI" b="0" i="1" smtClean="0">
                                  <a:latin typeface="Cambria Math" panose="02040503050406030204" pitchFamily="18" charset="0"/>
                                </a:rPr>
                              </m:ctrlPr>
                            </m:sSupPr>
                            <m:e>
                              <m:r>
                                <a:rPr lang="sl-SI" i="1">
                                  <a:latin typeface="Cambria Math" panose="02040503050406030204" pitchFamily="18" charset="0"/>
                                </a:rPr>
                                <m:t>𝑥</m:t>
                              </m:r>
                            </m:e>
                            <m:sup>
                              <m:r>
                                <a:rPr lang="sl-SI" b="0" i="1" smtClean="0">
                                  <a:latin typeface="Cambria Math" panose="02040503050406030204" pitchFamily="18" charset="0"/>
                                </a:rPr>
                                <m:t>∗</m:t>
                              </m:r>
                            </m:sup>
                          </m:sSup>
                        </m:e>
                      </m:d>
                      <m:r>
                        <a:rPr lang="sl-SI" b="0" i="1" smtClean="0">
                          <a:latin typeface="Cambria Math" panose="02040503050406030204" pitchFamily="18" charset="0"/>
                        </a:rPr>
                        <m:t>=0</m:t>
                      </m:r>
                    </m:oMath>
                  </m:oMathPara>
                </a14:m>
                <a:endParaRPr lang="en-US" dirty="0"/>
              </a:p>
              <a:p>
                <a:pPr marL="0" indent="0">
                  <a:buNone/>
                </a:pPr>
                <a:endParaRPr lang="sl-SI" dirty="0"/>
              </a:p>
              <a:p>
                <a:pPr marL="0" indent="0">
                  <a:buNone/>
                </a:pPr>
                <a:r>
                  <a:rPr lang="en-US" dirty="0"/>
                  <a:t>Na </a:t>
                </a:r>
                <a:r>
                  <a:rPr lang="sl-SI" dirty="0"/>
                  <a:t>grafu ničli ustreza </a:t>
                </a:r>
              </a:p>
              <a:p>
                <a:pPr marL="0" indent="0">
                  <a:buNone/>
                </a:pPr>
                <a:r>
                  <a:rPr lang="sl-SI" dirty="0"/>
                  <a:t>presečišče z abscisno </a:t>
                </a:r>
              </a:p>
              <a:p>
                <a:pPr marL="0" indent="0">
                  <a:buNone/>
                </a:pPr>
                <a:r>
                  <a:rPr lang="sl-SI" dirty="0"/>
                  <a:t>osjo</a:t>
                </a:r>
                <a:r>
                  <a:rPr lang="en-US" dirty="0"/>
                  <a:t>. </a:t>
                </a:r>
              </a:p>
            </p:txBody>
          </p:sp>
        </mc:Choice>
        <mc:Fallback>
          <p:sp>
            <p:nvSpPr>
              <p:cNvPr id="3" name="Označba mesta vsebine 2">
                <a:extLst>
                  <a:ext uri="{FF2B5EF4-FFF2-40B4-BE49-F238E27FC236}">
                    <a16:creationId xmlns:a16="http://schemas.microsoft.com/office/drawing/2014/main" id="{B35DDC75-2395-4D73-AF79-BBCE6DAD3C81}"/>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1217" t="-2089" r="-1159"/>
                </a:stretch>
              </a:blipFill>
            </p:spPr>
            <p:txBody>
              <a:bodyPr/>
              <a:lstStyle/>
              <a:p>
                <a:r>
                  <a:rPr lang="en-US">
                    <a:noFill/>
                  </a:rPr>
                  <a:t> </a:t>
                </a:r>
              </a:p>
            </p:txBody>
          </p:sp>
        </mc:Fallback>
      </mc:AlternateContent>
      <p:pic>
        <p:nvPicPr>
          <p:cNvPr id="14" name="Slika 13">
            <a:extLst>
              <a:ext uri="{FF2B5EF4-FFF2-40B4-BE49-F238E27FC236}">
                <a16:creationId xmlns:a16="http://schemas.microsoft.com/office/drawing/2014/main" id="{F83172D5-BE9B-4A9C-B7FA-0E587951F0D1}"/>
              </a:ext>
            </a:extLst>
          </p:cNvPr>
          <p:cNvPicPr>
            <a:picLocks noChangeAspect="1"/>
          </p:cNvPicPr>
          <p:nvPr/>
        </p:nvPicPr>
        <p:blipFill>
          <a:blip r:embed="rId3"/>
          <a:stretch>
            <a:fillRect/>
          </a:stretch>
        </p:blipFill>
        <p:spPr>
          <a:xfrm>
            <a:off x="4185987" y="3998658"/>
            <a:ext cx="4563165" cy="2629154"/>
          </a:xfrm>
          <a:prstGeom prst="rect">
            <a:avLst/>
          </a:prstGeom>
        </p:spPr>
      </p:pic>
    </p:spTree>
    <p:extLst>
      <p:ext uri="{BB962C8B-B14F-4D97-AF65-F5344CB8AC3E}">
        <p14:creationId xmlns:p14="http://schemas.microsoft.com/office/powerpoint/2010/main" val="3595201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1D9F309E-A381-4B27-BFE0-D016736E9B0E}"/>
              </a:ext>
            </a:extLst>
          </p:cNvPr>
          <p:cNvSpPr>
            <a:spLocks noGrp="1"/>
          </p:cNvSpPr>
          <p:nvPr>
            <p:ph type="title"/>
          </p:nvPr>
        </p:nvSpPr>
        <p:spPr/>
        <p:txBody>
          <a:bodyPr/>
          <a:lstStyle/>
          <a:p>
            <a:r>
              <a:rPr lang="sl-SI" dirty="0"/>
              <a:t>Iskanje ničel</a:t>
            </a:r>
          </a:p>
        </p:txBody>
      </p:sp>
      <mc:AlternateContent xmlns:mc="http://schemas.openxmlformats.org/markup-compatibility/2006">
        <mc:Choice xmlns:a14="http://schemas.microsoft.com/office/drawing/2010/main" Requires="a14">
          <p:sp>
            <p:nvSpPr>
              <p:cNvPr id="3" name="Označba mesta vsebine 2">
                <a:extLst>
                  <a:ext uri="{FF2B5EF4-FFF2-40B4-BE49-F238E27FC236}">
                    <a16:creationId xmlns:a16="http://schemas.microsoft.com/office/drawing/2014/main" id="{C6744070-AE74-4463-860C-9E5E31ACEA25}"/>
                  </a:ext>
                </a:extLst>
              </p:cNvPr>
              <p:cNvSpPr>
                <a:spLocks noGrp="1"/>
              </p:cNvSpPr>
              <p:nvPr>
                <p:ph idx="1"/>
              </p:nvPr>
            </p:nvSpPr>
            <p:spPr/>
            <p:txBody>
              <a:bodyPr>
                <a:normAutofit/>
              </a:bodyPr>
              <a:lstStyle/>
              <a:p>
                <a:pPr marL="0" indent="0" algn="just">
                  <a:buNone/>
                </a:pPr>
                <a:r>
                  <a:rPr lang="sl-SI" dirty="0"/>
                  <a:t>Pri kompleksnih problemih pa lahko naletimo na težavo, ko enačbo </a:t>
                </a:r>
                <a14:m>
                  <m:oMath xmlns:m="http://schemas.openxmlformats.org/officeDocument/2006/math">
                    <m:r>
                      <a:rPr lang="sl-SI" b="0" i="1" smtClean="0">
                        <a:latin typeface="Cambria Math" panose="02040503050406030204" pitchFamily="18" charset="0"/>
                      </a:rPr>
                      <m:t>𝑓</m:t>
                    </m:r>
                    <m:d>
                      <m:dPr>
                        <m:ctrlPr>
                          <a:rPr lang="sl-SI" b="0" i="1" smtClean="0">
                            <a:latin typeface="Cambria Math" panose="02040503050406030204" pitchFamily="18" charset="0"/>
                          </a:rPr>
                        </m:ctrlPr>
                      </m:dPr>
                      <m:e>
                        <m:r>
                          <a:rPr lang="sl-SI" b="0" i="1" smtClean="0">
                            <a:latin typeface="Cambria Math" panose="02040503050406030204" pitchFamily="18" charset="0"/>
                          </a:rPr>
                          <m:t>𝑥</m:t>
                        </m:r>
                      </m:e>
                    </m:d>
                    <m:r>
                      <a:rPr lang="sl-SI" b="0" i="1" smtClean="0">
                        <a:latin typeface="Cambria Math" panose="02040503050406030204" pitchFamily="18" charset="0"/>
                      </a:rPr>
                      <m:t>=0</m:t>
                    </m:r>
                  </m:oMath>
                </a14:m>
                <a:r>
                  <a:rPr lang="sl-SI" dirty="0"/>
                  <a:t> ni možno rešiti analitično.</a:t>
                </a:r>
              </a:p>
              <a:p>
                <a:pPr marL="0" indent="0" algn="just">
                  <a:buNone/>
                </a:pPr>
                <a:endParaRPr lang="sl-SI" dirty="0"/>
              </a:p>
              <a:p>
                <a:pPr marL="0" indent="0">
                  <a:buNone/>
                </a:pPr>
                <a:r>
                  <a:rPr lang="sl-SI" dirty="0"/>
                  <a:t>V ta namen obstajajo različne numerične metode, s katerimi lahko poiščemo vrednost </a:t>
                </a:r>
                <a:r>
                  <a:rPr lang="en-US" i="1" dirty="0"/>
                  <a:t>x</a:t>
                </a:r>
                <a:r>
                  <a:rPr lang="sl-SI" i="1" dirty="0"/>
                  <a:t>*</a:t>
                </a:r>
                <a:r>
                  <a:rPr lang="sl-SI" dirty="0"/>
                  <a:t>, ki izpolnjuje pogoj:</a:t>
                </a:r>
              </a:p>
              <a:p>
                <a:pPr marL="0" indent="0">
                  <a:buNone/>
                </a:pPr>
                <a:endParaRPr lang="sl-SI"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sl-SI" b="0" i="1" smtClean="0">
                              <a:latin typeface="Cambria Math" panose="02040503050406030204" pitchFamily="18" charset="0"/>
                            </a:rPr>
                          </m:ctrlPr>
                        </m:dPr>
                        <m:e>
                          <m:r>
                            <a:rPr lang="sl-SI" b="0" i="1" smtClean="0">
                              <a:latin typeface="Cambria Math" panose="02040503050406030204" pitchFamily="18" charset="0"/>
                            </a:rPr>
                            <m:t>𝑓</m:t>
                          </m:r>
                          <m:d>
                            <m:dPr>
                              <m:ctrlPr>
                                <a:rPr lang="sl-SI" b="0" i="1" smtClean="0">
                                  <a:latin typeface="Cambria Math" panose="02040503050406030204" pitchFamily="18" charset="0"/>
                                </a:rPr>
                              </m:ctrlPr>
                            </m:dPr>
                            <m:e>
                              <m:sSup>
                                <m:sSupPr>
                                  <m:ctrlPr>
                                    <a:rPr lang="sl-SI" b="0" i="1" smtClean="0">
                                      <a:latin typeface="Cambria Math" panose="02040503050406030204" pitchFamily="18" charset="0"/>
                                    </a:rPr>
                                  </m:ctrlPr>
                                </m:sSupPr>
                                <m:e>
                                  <m:r>
                                    <a:rPr lang="sl-SI" b="0" i="1" smtClean="0">
                                      <a:latin typeface="Cambria Math" panose="02040503050406030204" pitchFamily="18" charset="0"/>
                                    </a:rPr>
                                    <m:t>𝑥</m:t>
                                  </m:r>
                                </m:e>
                                <m:sup>
                                  <m:r>
                                    <a:rPr lang="sl-SI" b="0" i="1" smtClean="0">
                                      <a:latin typeface="Cambria Math" panose="02040503050406030204" pitchFamily="18" charset="0"/>
                                    </a:rPr>
                                    <m:t>∗</m:t>
                                  </m:r>
                                </m:sup>
                              </m:sSup>
                            </m:e>
                          </m:d>
                        </m:e>
                      </m:d>
                      <m:r>
                        <a:rPr lang="sl-SI" i="1">
                          <a:latin typeface="Cambria Math" panose="02040503050406030204" pitchFamily="18" charset="0"/>
                          <a:ea typeface="Cambria Math" panose="02040503050406030204" pitchFamily="18" charset="0"/>
                        </a:rPr>
                        <m:t>≤</m:t>
                      </m:r>
                      <m:r>
                        <a:rPr lang="sl-SI" i="1" smtClean="0">
                          <a:latin typeface="Cambria Math" panose="02040503050406030204" pitchFamily="18" charset="0"/>
                          <a:ea typeface="Cambria Math" panose="02040503050406030204" pitchFamily="18" charset="0"/>
                        </a:rPr>
                        <m:t>𝜖</m:t>
                      </m:r>
                    </m:oMath>
                  </m:oMathPara>
                </a14:m>
                <a:endParaRPr lang="sl-SI" dirty="0"/>
              </a:p>
              <a:p>
                <a:pPr marL="0" indent="0">
                  <a:buNone/>
                </a:pPr>
                <a:r>
                  <a:rPr lang="sl-SI" dirty="0"/>
                  <a:t>Kjer je </a:t>
                </a:r>
                <a14:m>
                  <m:oMath xmlns:m="http://schemas.openxmlformats.org/officeDocument/2006/math">
                    <m:r>
                      <a:rPr lang="sl-SI" i="1" smtClean="0">
                        <a:latin typeface="Cambria Math" panose="02040503050406030204" pitchFamily="18" charset="0"/>
                        <a:ea typeface="Cambria Math" panose="02040503050406030204" pitchFamily="18" charset="0"/>
                      </a:rPr>
                      <m:t>𝜖</m:t>
                    </m:r>
                  </m:oMath>
                </a14:m>
                <a:r>
                  <a:rPr lang="sl-SI" dirty="0"/>
                  <a:t> toleranca oz. dovoljeno odstopanje.</a:t>
                </a:r>
              </a:p>
            </p:txBody>
          </p:sp>
        </mc:Choice>
        <mc:Fallback>
          <p:sp>
            <p:nvSpPr>
              <p:cNvPr id="3" name="Označba mesta vsebine 2">
                <a:extLst>
                  <a:ext uri="{FF2B5EF4-FFF2-40B4-BE49-F238E27FC236}">
                    <a16:creationId xmlns:a16="http://schemas.microsoft.com/office/drawing/2014/main" id="{C6744070-AE74-4463-860C-9E5E31ACEA25}"/>
                  </a:ext>
                </a:extLst>
              </p:cNvPr>
              <p:cNvSpPr>
                <a:spLocks noGrp="1" noRot="1" noChangeAspect="1" noMove="1" noResize="1" noEditPoints="1" noAdjustHandles="1" noChangeArrowheads="1" noChangeShapeType="1" noTextEdit="1"/>
              </p:cNvSpPr>
              <p:nvPr>
                <p:ph idx="1"/>
              </p:nvPr>
            </p:nvSpPr>
            <p:spPr>
              <a:blipFill>
                <a:blip r:embed="rId2"/>
                <a:stretch>
                  <a:fillRect l="-1217" t="-2241" r="-1159"/>
                </a:stretch>
              </a:blipFill>
            </p:spPr>
            <p:txBody>
              <a:bodyPr/>
              <a:lstStyle/>
              <a:p>
                <a:r>
                  <a:rPr lang="en-US">
                    <a:noFill/>
                  </a:rPr>
                  <a:t> </a:t>
                </a:r>
              </a:p>
            </p:txBody>
          </p:sp>
        </mc:Fallback>
      </mc:AlternateContent>
      <p:pic>
        <p:nvPicPr>
          <p:cNvPr id="18" name="Slika 17">
            <a:extLst>
              <a:ext uri="{FF2B5EF4-FFF2-40B4-BE49-F238E27FC236}">
                <a16:creationId xmlns:a16="http://schemas.microsoft.com/office/drawing/2014/main" id="{9A0F7AC6-EC6B-4941-95C3-69039BACF4E4}"/>
              </a:ext>
            </a:extLst>
          </p:cNvPr>
          <p:cNvPicPr>
            <a:picLocks noChangeAspect="1"/>
          </p:cNvPicPr>
          <p:nvPr/>
        </p:nvPicPr>
        <p:blipFill>
          <a:blip r:embed="rId3"/>
          <a:stretch>
            <a:fillRect/>
          </a:stretch>
        </p:blipFill>
        <p:spPr>
          <a:xfrm>
            <a:off x="7763522" y="4001294"/>
            <a:ext cx="3326146" cy="2375273"/>
          </a:xfrm>
          <a:prstGeom prst="rect">
            <a:avLst/>
          </a:prstGeom>
        </p:spPr>
      </p:pic>
    </p:spTree>
    <p:extLst>
      <p:ext uri="{BB962C8B-B14F-4D97-AF65-F5344CB8AC3E}">
        <p14:creationId xmlns:p14="http://schemas.microsoft.com/office/powerpoint/2010/main" val="4096102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98C78623-269D-4427-9976-FC20EBB27065}"/>
              </a:ext>
            </a:extLst>
          </p:cNvPr>
          <p:cNvSpPr>
            <a:spLocks noGrp="1"/>
          </p:cNvSpPr>
          <p:nvPr>
            <p:ph type="title"/>
          </p:nvPr>
        </p:nvSpPr>
        <p:spPr/>
        <p:txBody>
          <a:bodyPr>
            <a:normAutofit/>
          </a:bodyPr>
          <a:lstStyle/>
          <a:p>
            <a:r>
              <a:rPr lang="sl-SI" dirty="0"/>
              <a:t>Iskanje ničel (numerično</a:t>
            </a:r>
          </a:p>
        </p:txBody>
      </p:sp>
      <p:sp>
        <p:nvSpPr>
          <p:cNvPr id="3" name="Označba mesta vsebine 2">
            <a:extLst>
              <a:ext uri="{FF2B5EF4-FFF2-40B4-BE49-F238E27FC236}">
                <a16:creationId xmlns:a16="http://schemas.microsoft.com/office/drawing/2014/main" id="{D7A8882B-D6D0-437F-AB76-AD7676037313}"/>
              </a:ext>
            </a:extLst>
          </p:cNvPr>
          <p:cNvSpPr>
            <a:spLocks noGrp="1"/>
          </p:cNvSpPr>
          <p:nvPr>
            <p:ph idx="1"/>
          </p:nvPr>
        </p:nvSpPr>
        <p:spPr>
          <a:xfrm>
            <a:off x="930797" y="1871923"/>
            <a:ext cx="10515600" cy="4351338"/>
          </a:xfrm>
        </p:spPr>
        <p:txBody>
          <a:bodyPr/>
          <a:lstStyle/>
          <a:p>
            <a:r>
              <a:rPr lang="sl-SI" dirty="0"/>
              <a:t>Bisekcija</a:t>
            </a:r>
          </a:p>
          <a:p>
            <a:pPr marL="0" indent="0">
              <a:buNone/>
            </a:pPr>
            <a:endParaRPr lang="sl-SI" dirty="0"/>
          </a:p>
          <a:p>
            <a:pPr marL="0" indent="0">
              <a:buNone/>
            </a:pPr>
            <a:endParaRPr lang="sl-SI" dirty="0"/>
          </a:p>
          <a:p>
            <a:r>
              <a:rPr lang="sl-SI" dirty="0"/>
              <a:t>Sekantna metoda</a:t>
            </a:r>
          </a:p>
          <a:p>
            <a:pPr marL="0" indent="0">
              <a:buNone/>
            </a:pPr>
            <a:endParaRPr lang="sl-SI" dirty="0"/>
          </a:p>
          <a:p>
            <a:pPr marL="0" indent="0">
              <a:buNone/>
            </a:pPr>
            <a:endParaRPr lang="sl-SI" dirty="0"/>
          </a:p>
          <a:p>
            <a:r>
              <a:rPr lang="sl-SI" dirty="0"/>
              <a:t>Newtonova metoda</a:t>
            </a:r>
          </a:p>
        </p:txBody>
      </p:sp>
      <mc:AlternateContent xmlns:mc="http://schemas.openxmlformats.org/markup-compatibility/2006" xmlns:p14="http://schemas.microsoft.com/office/powerpoint/2010/main">
        <mc:Choice Requires="p14">
          <p:contentPart p14:bwMode="auto" r:id="rId2">
            <p14:nvContentPartPr>
              <p14:cNvPr id="20" name="Rokopis 19">
                <a:extLst>
                  <a:ext uri="{FF2B5EF4-FFF2-40B4-BE49-F238E27FC236}">
                    <a16:creationId xmlns:a16="http://schemas.microsoft.com/office/drawing/2014/main" id="{452B6F13-F2FA-4C04-BEC0-80AC8B9E8D73}"/>
                  </a:ext>
                </a:extLst>
              </p14:cNvPr>
              <p14:cNvContentPartPr/>
              <p14:nvPr/>
            </p14:nvContentPartPr>
            <p14:xfrm>
              <a:off x="932520" y="3633660"/>
              <a:ext cx="97920" cy="141120"/>
            </p14:xfrm>
          </p:contentPart>
        </mc:Choice>
        <mc:Fallback xmlns="">
          <p:pic>
            <p:nvPicPr>
              <p:cNvPr id="20" name="Rokopis 19">
                <a:extLst>
                  <a:ext uri="{FF2B5EF4-FFF2-40B4-BE49-F238E27FC236}">
                    <a16:creationId xmlns:a16="http://schemas.microsoft.com/office/drawing/2014/main" id="{452B6F13-F2FA-4C04-BEC0-80AC8B9E8D73}"/>
                  </a:ext>
                </a:extLst>
              </p:cNvPr>
              <p:cNvPicPr/>
              <p:nvPr/>
            </p:nvPicPr>
            <p:blipFill>
              <a:blip r:embed="rId21"/>
              <a:stretch>
                <a:fillRect/>
              </a:stretch>
            </p:blipFill>
            <p:spPr>
              <a:xfrm>
                <a:off x="928200" y="3629340"/>
                <a:ext cx="106560" cy="149760"/>
              </a:xfrm>
              <a:prstGeom prst="rect">
                <a:avLst/>
              </a:prstGeom>
            </p:spPr>
          </p:pic>
        </mc:Fallback>
      </mc:AlternateContent>
    </p:spTree>
    <p:extLst>
      <p:ext uri="{BB962C8B-B14F-4D97-AF65-F5344CB8AC3E}">
        <p14:creationId xmlns:p14="http://schemas.microsoft.com/office/powerpoint/2010/main" val="1593198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230E3D7D-4F54-42D7-B4EB-328E646F69C2}"/>
              </a:ext>
            </a:extLst>
          </p:cNvPr>
          <p:cNvSpPr>
            <a:spLocks noGrp="1"/>
          </p:cNvSpPr>
          <p:nvPr>
            <p:ph type="title"/>
          </p:nvPr>
        </p:nvSpPr>
        <p:spPr/>
        <p:txBody>
          <a:bodyPr/>
          <a:lstStyle/>
          <a:p>
            <a:r>
              <a:rPr lang="sl-SI" dirty="0"/>
              <a:t>Metoda bisekcije</a:t>
            </a:r>
          </a:p>
        </p:txBody>
      </p:sp>
      <p:sp>
        <p:nvSpPr>
          <p:cNvPr id="4" name="Pravokotnik 3">
            <a:extLst>
              <a:ext uri="{FF2B5EF4-FFF2-40B4-BE49-F238E27FC236}">
                <a16:creationId xmlns:a16="http://schemas.microsoft.com/office/drawing/2014/main" id="{D2008E12-8878-49B9-8086-C08882988935}"/>
              </a:ext>
            </a:extLst>
          </p:cNvPr>
          <p:cNvSpPr/>
          <p:nvPr/>
        </p:nvSpPr>
        <p:spPr>
          <a:xfrm>
            <a:off x="838199" y="1690688"/>
            <a:ext cx="10515599" cy="1200329"/>
          </a:xfrm>
          <a:prstGeom prst="rect">
            <a:avLst/>
          </a:prstGeom>
        </p:spPr>
        <p:txBody>
          <a:bodyPr wrap="square">
            <a:spAutoFit/>
          </a:bodyPr>
          <a:lstStyle/>
          <a:p>
            <a:pPr algn="just"/>
            <a:r>
              <a:rPr lang="sl-SI" dirty="0"/>
              <a:t>Bisekcija je najosnovnejša metoda za iskanja ničel. Metoda temelji na večkratnem zaporednem razpolavljanju intervala, na katerem leži ničla. Metodo bisekcije lahko uporabimo, </a:t>
            </a:r>
            <a:r>
              <a:rPr lang="sl-SI" b="1" dirty="0">
                <a:solidFill>
                  <a:srgbClr val="FF0000"/>
                </a:solidFill>
              </a:rPr>
              <a:t>če vemo</a:t>
            </a:r>
            <a:r>
              <a:rPr lang="sl-SI" dirty="0"/>
              <a:t>, da je vrednost zvezne funkcije </a:t>
            </a:r>
            <a:r>
              <a:rPr lang="sl-SI" i="1" dirty="0"/>
              <a:t>f</a:t>
            </a:r>
            <a:r>
              <a:rPr lang="sl-SI" dirty="0"/>
              <a:t>(</a:t>
            </a:r>
            <a:r>
              <a:rPr lang="sl-SI" i="1" dirty="0"/>
              <a:t>x</a:t>
            </a:r>
            <a:r>
              <a:rPr lang="sl-SI" dirty="0"/>
              <a:t>) v enem krajišču intervala [</a:t>
            </a:r>
            <a:r>
              <a:rPr lang="sl-SI" dirty="0" err="1"/>
              <a:t>a,b</a:t>
            </a:r>
            <a:r>
              <a:rPr lang="sl-SI" dirty="0"/>
              <a:t>] pozitivna, v drugem pa negativna. </a:t>
            </a:r>
            <a:r>
              <a:rPr lang="sl-SI" b="1" u="sng" dirty="0"/>
              <a:t>Če funkcija na intervalu [</a:t>
            </a:r>
            <a:r>
              <a:rPr lang="sl-SI" b="1" u="sng" dirty="0" err="1"/>
              <a:t>a,b</a:t>
            </a:r>
            <a:r>
              <a:rPr lang="sl-SI" b="1" u="sng" dirty="0"/>
              <a:t>] spremeni predznak in se nikjer ne pretrga, mora imeti na tem intervalu (vsaj eno) ničlo.</a:t>
            </a:r>
          </a:p>
        </p:txBody>
      </p:sp>
    </p:spTree>
    <p:extLst>
      <p:ext uri="{BB962C8B-B14F-4D97-AF65-F5344CB8AC3E}">
        <p14:creationId xmlns:p14="http://schemas.microsoft.com/office/powerpoint/2010/main" val="3593750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230E3D7D-4F54-42D7-B4EB-328E646F69C2}"/>
              </a:ext>
            </a:extLst>
          </p:cNvPr>
          <p:cNvSpPr>
            <a:spLocks noGrp="1"/>
          </p:cNvSpPr>
          <p:nvPr>
            <p:ph type="title"/>
          </p:nvPr>
        </p:nvSpPr>
        <p:spPr/>
        <p:txBody>
          <a:bodyPr/>
          <a:lstStyle/>
          <a:p>
            <a:r>
              <a:rPr lang="sl-SI" dirty="0"/>
              <a:t>Metoda bisekcije</a:t>
            </a:r>
          </a:p>
        </p:txBody>
      </p:sp>
      <p:sp>
        <p:nvSpPr>
          <p:cNvPr id="4" name="Pravokotnik 3">
            <a:extLst>
              <a:ext uri="{FF2B5EF4-FFF2-40B4-BE49-F238E27FC236}">
                <a16:creationId xmlns:a16="http://schemas.microsoft.com/office/drawing/2014/main" id="{D2008E12-8878-49B9-8086-C08882988935}"/>
              </a:ext>
            </a:extLst>
          </p:cNvPr>
          <p:cNvSpPr/>
          <p:nvPr/>
        </p:nvSpPr>
        <p:spPr>
          <a:xfrm>
            <a:off x="201470" y="1391927"/>
            <a:ext cx="7159907" cy="5078313"/>
          </a:xfrm>
          <a:prstGeom prst="rect">
            <a:avLst/>
          </a:prstGeom>
        </p:spPr>
        <p:txBody>
          <a:bodyPr wrap="square">
            <a:spAutoFit/>
          </a:bodyPr>
          <a:lstStyle/>
          <a:p>
            <a:pPr algn="just"/>
            <a:r>
              <a:rPr lang="sl-SI" dirty="0"/>
              <a:t>Opišimo postopek za primer, ko je vrednost f(a) pozitivna, f(b) pa negativna.</a:t>
            </a:r>
          </a:p>
          <a:p>
            <a:pPr algn="just"/>
            <a:endParaRPr lang="sl-SI" dirty="0"/>
          </a:p>
          <a:p>
            <a:pPr algn="just"/>
            <a:r>
              <a:rPr lang="sl-SI" dirty="0"/>
              <a:t>Najprej izračunamo razpolovišče intervala: c = (</a:t>
            </a:r>
            <a:r>
              <a:rPr lang="sl-SI" dirty="0" err="1"/>
              <a:t>a+b</a:t>
            </a:r>
            <a:r>
              <a:rPr lang="sl-SI" dirty="0"/>
              <a:t>) / 2.</a:t>
            </a:r>
          </a:p>
          <a:p>
            <a:pPr algn="just"/>
            <a:endParaRPr lang="sl-SI" dirty="0"/>
          </a:p>
          <a:p>
            <a:pPr algn="just"/>
            <a:r>
              <a:rPr lang="sl-SI" dirty="0"/>
              <a:t>Potem izračunamo f(c) (tj. vrednost funkcije v razpolovišču), če je f(c) = 0, smo ničlo že odkrili in postopek lahko zaključimo, če je vrednost f(c) pozitivna (enakega predznaka kot f(a)), potem krajišče a zamenjamo s c in postopek nadaljujemo na intervalu [</a:t>
            </a:r>
            <a:r>
              <a:rPr lang="sl-SI" dirty="0" err="1"/>
              <a:t>c,b</a:t>
            </a:r>
            <a:r>
              <a:rPr lang="sl-SI" dirty="0"/>
              <a:t>], če je vrednost f(c) negativna (enakega predznaka kot f(b)), potem krajišče b zamenjamo s c in postopek nadaljujemo na intervalu [</a:t>
            </a:r>
            <a:r>
              <a:rPr lang="sl-SI" dirty="0" err="1"/>
              <a:t>a,c</a:t>
            </a:r>
            <a:r>
              <a:rPr lang="sl-SI" dirty="0"/>
              <a:t>]. Postopek po navadi uporabljamo za funkcije, katerih ničel se ne da neposredno izračunati. V tem primeru se običajno zgodi, da vrednost f(c) nikoli ni enaka 0. Postopek nadaljujemo na tistem od pod intervalov, na katerem funkcija spremeni predznak. Z vsakim naslednjim korakom je interval ožji in krajišči konvergirata proti ničli funkcije. Po metodi bisekcije praviloma ne moremo dobiti povsem točne vrednosti ničle, dobimo pa lahko poljubno dober približek. Običajno se za ničlo uporabi tista vrednost, kjer velja |F(x)| &lt; </a:t>
            </a:r>
            <a:r>
              <a:rPr lang="sl-SI" dirty="0" err="1"/>
              <a:t>epislon</a:t>
            </a:r>
            <a:r>
              <a:rPr lang="sl-SI" dirty="0"/>
              <a:t>. </a:t>
            </a:r>
            <a:endParaRPr lang="sl-SI" b="1" u="sng" dirty="0"/>
          </a:p>
        </p:txBody>
      </p:sp>
      <p:pic>
        <p:nvPicPr>
          <p:cNvPr id="3" name="Grafika 2">
            <a:extLst>
              <a:ext uri="{FF2B5EF4-FFF2-40B4-BE49-F238E27FC236}">
                <a16:creationId xmlns:a16="http://schemas.microsoft.com/office/drawing/2014/main" id="{01C72BC2-91AE-4530-8E43-2364E4011A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61378" y="903215"/>
            <a:ext cx="4629152" cy="5268264"/>
          </a:xfrm>
          <a:prstGeom prst="rect">
            <a:avLst/>
          </a:prstGeom>
        </p:spPr>
      </p:pic>
      <p:grpSp>
        <p:nvGrpSpPr>
          <p:cNvPr id="7" name="Skupina 6">
            <a:extLst>
              <a:ext uri="{FF2B5EF4-FFF2-40B4-BE49-F238E27FC236}">
                <a16:creationId xmlns:a16="http://schemas.microsoft.com/office/drawing/2014/main" id="{9B5A78DD-6F4C-4055-A7AD-EF375B7CE33B}"/>
              </a:ext>
            </a:extLst>
          </p:cNvPr>
          <p:cNvGrpSpPr/>
          <p:nvPr/>
        </p:nvGrpSpPr>
        <p:grpSpPr>
          <a:xfrm>
            <a:off x="10313157" y="4447601"/>
            <a:ext cx="172080" cy="136800"/>
            <a:chOff x="10313157" y="4447601"/>
            <a:chExt cx="172080" cy="136800"/>
          </a:xfrm>
        </p:grpSpPr>
        <mc:AlternateContent xmlns:mc="http://schemas.openxmlformats.org/markup-compatibility/2006" xmlns:p14="http://schemas.microsoft.com/office/powerpoint/2010/main">
          <mc:Choice Requires="p14">
            <p:contentPart p14:bwMode="auto" r:id="rId4">
              <p14:nvContentPartPr>
                <p14:cNvPr id="5" name="Rokopis 4">
                  <a:extLst>
                    <a:ext uri="{FF2B5EF4-FFF2-40B4-BE49-F238E27FC236}">
                      <a16:creationId xmlns:a16="http://schemas.microsoft.com/office/drawing/2014/main" id="{E4C14448-0D09-4385-A833-CF9BDE95956C}"/>
                    </a:ext>
                  </a:extLst>
                </p14:cNvPr>
                <p14:cNvContentPartPr/>
                <p14:nvPr/>
              </p14:nvContentPartPr>
              <p14:xfrm>
                <a:off x="10313157" y="4473881"/>
                <a:ext cx="81360" cy="88560"/>
              </p14:xfrm>
            </p:contentPart>
          </mc:Choice>
          <mc:Fallback xmlns="">
            <p:pic>
              <p:nvPicPr>
                <p:cNvPr id="5" name="Rokopis 4">
                  <a:extLst>
                    <a:ext uri="{FF2B5EF4-FFF2-40B4-BE49-F238E27FC236}">
                      <a16:creationId xmlns:a16="http://schemas.microsoft.com/office/drawing/2014/main" id="{E4C14448-0D09-4385-A833-CF9BDE95956C}"/>
                    </a:ext>
                  </a:extLst>
                </p:cNvPr>
                <p:cNvPicPr/>
                <p:nvPr/>
              </p:nvPicPr>
              <p:blipFill>
                <a:blip r:embed="rId5"/>
                <a:stretch>
                  <a:fillRect/>
                </a:stretch>
              </p:blipFill>
              <p:spPr>
                <a:xfrm>
                  <a:off x="10308837" y="4469561"/>
                  <a:ext cx="900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Rokopis 5">
                  <a:extLst>
                    <a:ext uri="{FF2B5EF4-FFF2-40B4-BE49-F238E27FC236}">
                      <a16:creationId xmlns:a16="http://schemas.microsoft.com/office/drawing/2014/main" id="{C52F98F4-BFDD-4569-8D62-57CAEDCC2DE5}"/>
                    </a:ext>
                  </a:extLst>
                </p14:cNvPr>
                <p14:cNvContentPartPr/>
                <p14:nvPr/>
              </p14:nvContentPartPr>
              <p14:xfrm>
                <a:off x="10427637" y="4447601"/>
                <a:ext cx="57600" cy="136800"/>
              </p14:xfrm>
            </p:contentPart>
          </mc:Choice>
          <mc:Fallback xmlns="">
            <p:pic>
              <p:nvPicPr>
                <p:cNvPr id="6" name="Rokopis 5">
                  <a:extLst>
                    <a:ext uri="{FF2B5EF4-FFF2-40B4-BE49-F238E27FC236}">
                      <a16:creationId xmlns:a16="http://schemas.microsoft.com/office/drawing/2014/main" id="{C52F98F4-BFDD-4569-8D62-57CAEDCC2DE5}"/>
                    </a:ext>
                  </a:extLst>
                </p:cNvPr>
                <p:cNvPicPr/>
                <p:nvPr/>
              </p:nvPicPr>
              <p:blipFill>
                <a:blip r:embed="rId7"/>
                <a:stretch>
                  <a:fillRect/>
                </a:stretch>
              </p:blipFill>
              <p:spPr>
                <a:xfrm>
                  <a:off x="10423317" y="4443281"/>
                  <a:ext cx="66240" cy="14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8" name="Rokopis 7">
                <a:extLst>
                  <a:ext uri="{FF2B5EF4-FFF2-40B4-BE49-F238E27FC236}">
                    <a16:creationId xmlns:a16="http://schemas.microsoft.com/office/drawing/2014/main" id="{F96CE155-2E40-4445-A3B8-F1DA66CD15EC}"/>
                  </a:ext>
                </a:extLst>
              </p14:cNvPr>
              <p14:cNvContentPartPr/>
              <p14:nvPr/>
            </p14:nvContentPartPr>
            <p14:xfrm>
              <a:off x="10190037" y="5079041"/>
              <a:ext cx="108360" cy="115200"/>
            </p14:xfrm>
          </p:contentPart>
        </mc:Choice>
        <mc:Fallback xmlns="">
          <p:pic>
            <p:nvPicPr>
              <p:cNvPr id="8" name="Rokopis 7">
                <a:extLst>
                  <a:ext uri="{FF2B5EF4-FFF2-40B4-BE49-F238E27FC236}">
                    <a16:creationId xmlns:a16="http://schemas.microsoft.com/office/drawing/2014/main" id="{F96CE155-2E40-4445-A3B8-F1DA66CD15EC}"/>
                  </a:ext>
                </a:extLst>
              </p:cNvPr>
              <p:cNvPicPr/>
              <p:nvPr/>
            </p:nvPicPr>
            <p:blipFill>
              <a:blip r:embed="rId9"/>
              <a:stretch>
                <a:fillRect/>
              </a:stretch>
            </p:blipFill>
            <p:spPr>
              <a:xfrm>
                <a:off x="10185717" y="5074721"/>
                <a:ext cx="117000" cy="123840"/>
              </a:xfrm>
              <a:prstGeom prst="rect">
                <a:avLst/>
              </a:prstGeom>
            </p:spPr>
          </p:pic>
        </mc:Fallback>
      </mc:AlternateContent>
      <p:grpSp>
        <p:nvGrpSpPr>
          <p:cNvPr id="11" name="Skupina 10">
            <a:extLst>
              <a:ext uri="{FF2B5EF4-FFF2-40B4-BE49-F238E27FC236}">
                <a16:creationId xmlns:a16="http://schemas.microsoft.com/office/drawing/2014/main" id="{E71848A7-70C6-4F08-9AAB-C8F18E950694}"/>
              </a:ext>
            </a:extLst>
          </p:cNvPr>
          <p:cNvGrpSpPr/>
          <p:nvPr/>
        </p:nvGrpSpPr>
        <p:grpSpPr>
          <a:xfrm>
            <a:off x="9121197" y="5110001"/>
            <a:ext cx="169920" cy="144360"/>
            <a:chOff x="9121197" y="5110001"/>
            <a:chExt cx="169920" cy="144360"/>
          </a:xfrm>
        </p:grpSpPr>
        <mc:AlternateContent xmlns:mc="http://schemas.openxmlformats.org/markup-compatibility/2006" xmlns:p14="http://schemas.microsoft.com/office/powerpoint/2010/main">
          <mc:Choice Requires="p14">
            <p:contentPart p14:bwMode="auto" r:id="rId10">
              <p14:nvContentPartPr>
                <p14:cNvPr id="9" name="Rokopis 8">
                  <a:extLst>
                    <a:ext uri="{FF2B5EF4-FFF2-40B4-BE49-F238E27FC236}">
                      <a16:creationId xmlns:a16="http://schemas.microsoft.com/office/drawing/2014/main" id="{7CB3E2B7-B81B-4959-BD37-CACE72F46CA6}"/>
                    </a:ext>
                  </a:extLst>
                </p14:cNvPr>
                <p14:cNvContentPartPr/>
                <p14:nvPr/>
              </p14:nvContentPartPr>
              <p14:xfrm>
                <a:off x="9204717" y="5122241"/>
                <a:ext cx="27360" cy="27000"/>
              </p14:xfrm>
            </p:contentPart>
          </mc:Choice>
          <mc:Fallback xmlns="">
            <p:pic>
              <p:nvPicPr>
                <p:cNvPr id="9" name="Rokopis 8">
                  <a:extLst>
                    <a:ext uri="{FF2B5EF4-FFF2-40B4-BE49-F238E27FC236}">
                      <a16:creationId xmlns:a16="http://schemas.microsoft.com/office/drawing/2014/main" id="{7CB3E2B7-B81B-4959-BD37-CACE72F46CA6}"/>
                    </a:ext>
                  </a:extLst>
                </p:cNvPr>
                <p:cNvPicPr/>
                <p:nvPr/>
              </p:nvPicPr>
              <p:blipFill>
                <a:blip r:embed="rId11"/>
                <a:stretch>
                  <a:fillRect/>
                </a:stretch>
              </p:blipFill>
              <p:spPr>
                <a:xfrm>
                  <a:off x="9200397" y="5117921"/>
                  <a:ext cx="3600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Rokopis 9">
                  <a:extLst>
                    <a:ext uri="{FF2B5EF4-FFF2-40B4-BE49-F238E27FC236}">
                      <a16:creationId xmlns:a16="http://schemas.microsoft.com/office/drawing/2014/main" id="{477DADCD-DABE-4B6F-8175-80728F0310E6}"/>
                    </a:ext>
                  </a:extLst>
                </p14:cNvPr>
                <p14:cNvContentPartPr/>
                <p14:nvPr/>
              </p14:nvContentPartPr>
              <p14:xfrm>
                <a:off x="9121197" y="5110001"/>
                <a:ext cx="169920" cy="144360"/>
              </p14:xfrm>
            </p:contentPart>
          </mc:Choice>
          <mc:Fallback xmlns="">
            <p:pic>
              <p:nvPicPr>
                <p:cNvPr id="10" name="Rokopis 9">
                  <a:extLst>
                    <a:ext uri="{FF2B5EF4-FFF2-40B4-BE49-F238E27FC236}">
                      <a16:creationId xmlns:a16="http://schemas.microsoft.com/office/drawing/2014/main" id="{477DADCD-DABE-4B6F-8175-80728F0310E6}"/>
                    </a:ext>
                  </a:extLst>
                </p:cNvPr>
                <p:cNvPicPr/>
                <p:nvPr/>
              </p:nvPicPr>
              <p:blipFill>
                <a:blip r:embed="rId13"/>
                <a:stretch>
                  <a:fillRect/>
                </a:stretch>
              </p:blipFill>
              <p:spPr>
                <a:xfrm>
                  <a:off x="9116877" y="5105681"/>
                  <a:ext cx="178560" cy="153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2" name="Rokopis 11">
                <a:extLst>
                  <a:ext uri="{FF2B5EF4-FFF2-40B4-BE49-F238E27FC236}">
                    <a16:creationId xmlns:a16="http://schemas.microsoft.com/office/drawing/2014/main" id="{66E112A9-D4B7-4225-9E40-EF2AD3031290}"/>
                  </a:ext>
                </a:extLst>
              </p14:cNvPr>
              <p14:cNvContentPartPr/>
              <p14:nvPr/>
            </p14:nvContentPartPr>
            <p14:xfrm>
              <a:off x="9116517" y="3545441"/>
              <a:ext cx="203760" cy="136080"/>
            </p14:xfrm>
          </p:contentPart>
        </mc:Choice>
        <mc:Fallback xmlns="">
          <p:pic>
            <p:nvPicPr>
              <p:cNvPr id="12" name="Rokopis 11">
                <a:extLst>
                  <a:ext uri="{FF2B5EF4-FFF2-40B4-BE49-F238E27FC236}">
                    <a16:creationId xmlns:a16="http://schemas.microsoft.com/office/drawing/2014/main" id="{66E112A9-D4B7-4225-9E40-EF2AD3031290}"/>
                  </a:ext>
                </a:extLst>
              </p:cNvPr>
              <p:cNvPicPr/>
              <p:nvPr/>
            </p:nvPicPr>
            <p:blipFill>
              <a:blip r:embed="rId15"/>
              <a:stretch>
                <a:fillRect/>
              </a:stretch>
            </p:blipFill>
            <p:spPr>
              <a:xfrm>
                <a:off x="9112197" y="3541121"/>
                <a:ext cx="212400" cy="144720"/>
              </a:xfrm>
              <a:prstGeom prst="rect">
                <a:avLst/>
              </a:prstGeom>
            </p:spPr>
          </p:pic>
        </mc:Fallback>
      </mc:AlternateContent>
      <p:grpSp>
        <p:nvGrpSpPr>
          <p:cNvPr id="16" name="Skupina 15">
            <a:extLst>
              <a:ext uri="{FF2B5EF4-FFF2-40B4-BE49-F238E27FC236}">
                <a16:creationId xmlns:a16="http://schemas.microsoft.com/office/drawing/2014/main" id="{6AE977DF-2C16-47DF-862C-33538920119B}"/>
              </a:ext>
            </a:extLst>
          </p:cNvPr>
          <p:cNvGrpSpPr/>
          <p:nvPr/>
        </p:nvGrpSpPr>
        <p:grpSpPr>
          <a:xfrm>
            <a:off x="7843197" y="5115041"/>
            <a:ext cx="162720" cy="135720"/>
            <a:chOff x="7843197" y="5115041"/>
            <a:chExt cx="162720" cy="135720"/>
          </a:xfrm>
        </p:grpSpPr>
        <mc:AlternateContent xmlns:mc="http://schemas.openxmlformats.org/markup-compatibility/2006" xmlns:p14="http://schemas.microsoft.com/office/powerpoint/2010/main">
          <mc:Choice Requires="p14">
            <p:contentPart p14:bwMode="auto" r:id="rId16">
              <p14:nvContentPartPr>
                <p14:cNvPr id="13" name="Rokopis 12">
                  <a:extLst>
                    <a:ext uri="{FF2B5EF4-FFF2-40B4-BE49-F238E27FC236}">
                      <a16:creationId xmlns:a16="http://schemas.microsoft.com/office/drawing/2014/main" id="{5C48035F-F01B-4CED-8C47-34A32175FAAB}"/>
                    </a:ext>
                  </a:extLst>
                </p14:cNvPr>
                <p14:cNvContentPartPr/>
                <p14:nvPr/>
              </p14:nvContentPartPr>
              <p14:xfrm>
                <a:off x="7889997" y="5143121"/>
                <a:ext cx="34920" cy="12600"/>
              </p14:xfrm>
            </p:contentPart>
          </mc:Choice>
          <mc:Fallback xmlns="">
            <p:pic>
              <p:nvPicPr>
                <p:cNvPr id="13" name="Rokopis 12">
                  <a:extLst>
                    <a:ext uri="{FF2B5EF4-FFF2-40B4-BE49-F238E27FC236}">
                      <a16:creationId xmlns:a16="http://schemas.microsoft.com/office/drawing/2014/main" id="{5C48035F-F01B-4CED-8C47-34A32175FAAB}"/>
                    </a:ext>
                  </a:extLst>
                </p:cNvPr>
                <p:cNvPicPr/>
                <p:nvPr/>
              </p:nvPicPr>
              <p:blipFill>
                <a:blip r:embed="rId17"/>
                <a:stretch>
                  <a:fillRect/>
                </a:stretch>
              </p:blipFill>
              <p:spPr>
                <a:xfrm>
                  <a:off x="7885677" y="5138801"/>
                  <a:ext cx="4356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Rokopis 13">
                  <a:extLst>
                    <a:ext uri="{FF2B5EF4-FFF2-40B4-BE49-F238E27FC236}">
                      <a16:creationId xmlns:a16="http://schemas.microsoft.com/office/drawing/2014/main" id="{35C238D9-2C94-4CBC-B6EC-C22C4C8BC9ED}"/>
                    </a:ext>
                  </a:extLst>
                </p14:cNvPr>
                <p14:cNvContentPartPr/>
                <p14:nvPr/>
              </p14:nvContentPartPr>
              <p14:xfrm>
                <a:off x="7889997" y="5155361"/>
                <a:ext cx="360" cy="360"/>
              </p14:xfrm>
            </p:contentPart>
          </mc:Choice>
          <mc:Fallback xmlns="">
            <p:pic>
              <p:nvPicPr>
                <p:cNvPr id="14" name="Rokopis 13">
                  <a:extLst>
                    <a:ext uri="{FF2B5EF4-FFF2-40B4-BE49-F238E27FC236}">
                      <a16:creationId xmlns:a16="http://schemas.microsoft.com/office/drawing/2014/main" id="{35C238D9-2C94-4CBC-B6EC-C22C4C8BC9ED}"/>
                    </a:ext>
                  </a:extLst>
                </p:cNvPr>
                <p:cNvPicPr/>
                <p:nvPr/>
              </p:nvPicPr>
              <p:blipFill>
                <a:blip r:embed="rId19"/>
                <a:stretch>
                  <a:fillRect/>
                </a:stretch>
              </p:blipFill>
              <p:spPr>
                <a:xfrm>
                  <a:off x="7885677" y="515104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Rokopis 14">
                  <a:extLst>
                    <a:ext uri="{FF2B5EF4-FFF2-40B4-BE49-F238E27FC236}">
                      <a16:creationId xmlns:a16="http://schemas.microsoft.com/office/drawing/2014/main" id="{31A4FCBC-535B-4D26-9ADB-35D6289D00C2}"/>
                    </a:ext>
                  </a:extLst>
                </p14:cNvPr>
                <p14:cNvContentPartPr/>
                <p14:nvPr/>
              </p14:nvContentPartPr>
              <p14:xfrm>
                <a:off x="7843197" y="5115041"/>
                <a:ext cx="162720" cy="135720"/>
              </p14:xfrm>
            </p:contentPart>
          </mc:Choice>
          <mc:Fallback xmlns="">
            <p:pic>
              <p:nvPicPr>
                <p:cNvPr id="15" name="Rokopis 14">
                  <a:extLst>
                    <a:ext uri="{FF2B5EF4-FFF2-40B4-BE49-F238E27FC236}">
                      <a16:creationId xmlns:a16="http://schemas.microsoft.com/office/drawing/2014/main" id="{31A4FCBC-535B-4D26-9ADB-35D6289D00C2}"/>
                    </a:ext>
                  </a:extLst>
                </p:cNvPr>
                <p:cNvPicPr/>
                <p:nvPr/>
              </p:nvPicPr>
              <p:blipFill>
                <a:blip r:embed="rId21"/>
                <a:stretch>
                  <a:fillRect/>
                </a:stretch>
              </p:blipFill>
              <p:spPr>
                <a:xfrm>
                  <a:off x="7838877" y="5110721"/>
                  <a:ext cx="171360" cy="14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17" name="Rokopis 16">
                <a:extLst>
                  <a:ext uri="{FF2B5EF4-FFF2-40B4-BE49-F238E27FC236}">
                    <a16:creationId xmlns:a16="http://schemas.microsoft.com/office/drawing/2014/main" id="{62B13A94-22DB-4DF8-B964-540D93393EF4}"/>
                  </a:ext>
                </a:extLst>
              </p14:cNvPr>
              <p14:cNvContentPartPr/>
              <p14:nvPr/>
            </p14:nvContentPartPr>
            <p14:xfrm>
              <a:off x="7833117" y="3510881"/>
              <a:ext cx="226440" cy="157320"/>
            </p14:xfrm>
          </p:contentPart>
        </mc:Choice>
        <mc:Fallback xmlns="">
          <p:pic>
            <p:nvPicPr>
              <p:cNvPr id="17" name="Rokopis 16">
                <a:extLst>
                  <a:ext uri="{FF2B5EF4-FFF2-40B4-BE49-F238E27FC236}">
                    <a16:creationId xmlns:a16="http://schemas.microsoft.com/office/drawing/2014/main" id="{62B13A94-22DB-4DF8-B964-540D93393EF4}"/>
                  </a:ext>
                </a:extLst>
              </p:cNvPr>
              <p:cNvPicPr/>
              <p:nvPr/>
            </p:nvPicPr>
            <p:blipFill>
              <a:blip r:embed="rId23"/>
              <a:stretch>
                <a:fillRect/>
              </a:stretch>
            </p:blipFill>
            <p:spPr>
              <a:xfrm>
                <a:off x="7828797" y="3506561"/>
                <a:ext cx="2350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Rokopis 17">
                <a:extLst>
                  <a:ext uri="{FF2B5EF4-FFF2-40B4-BE49-F238E27FC236}">
                    <a16:creationId xmlns:a16="http://schemas.microsoft.com/office/drawing/2014/main" id="{BC92C770-0684-4ADC-8D52-BF355A26E487}"/>
                  </a:ext>
                </a:extLst>
              </p14:cNvPr>
              <p14:cNvContentPartPr/>
              <p14:nvPr/>
            </p14:nvContentPartPr>
            <p14:xfrm>
              <a:off x="9133437" y="2670641"/>
              <a:ext cx="156960" cy="148680"/>
            </p14:xfrm>
          </p:contentPart>
        </mc:Choice>
        <mc:Fallback xmlns="">
          <p:pic>
            <p:nvPicPr>
              <p:cNvPr id="18" name="Rokopis 17">
                <a:extLst>
                  <a:ext uri="{FF2B5EF4-FFF2-40B4-BE49-F238E27FC236}">
                    <a16:creationId xmlns:a16="http://schemas.microsoft.com/office/drawing/2014/main" id="{BC92C770-0684-4ADC-8D52-BF355A26E487}"/>
                  </a:ext>
                </a:extLst>
              </p:cNvPr>
              <p:cNvPicPr/>
              <p:nvPr/>
            </p:nvPicPr>
            <p:blipFill>
              <a:blip r:embed="rId25"/>
              <a:stretch>
                <a:fillRect/>
              </a:stretch>
            </p:blipFill>
            <p:spPr>
              <a:xfrm>
                <a:off x="9129117" y="2666321"/>
                <a:ext cx="1656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Rokopis 18">
                <a:extLst>
                  <a:ext uri="{FF2B5EF4-FFF2-40B4-BE49-F238E27FC236}">
                    <a16:creationId xmlns:a16="http://schemas.microsoft.com/office/drawing/2014/main" id="{AC623A4E-6178-438F-93DE-1A3220FB88F7}"/>
                  </a:ext>
                </a:extLst>
              </p14:cNvPr>
              <p14:cNvContentPartPr/>
              <p14:nvPr/>
            </p14:nvContentPartPr>
            <p14:xfrm>
              <a:off x="10841997" y="4445441"/>
              <a:ext cx="81000" cy="160920"/>
            </p14:xfrm>
          </p:contentPart>
        </mc:Choice>
        <mc:Fallback xmlns="">
          <p:pic>
            <p:nvPicPr>
              <p:cNvPr id="19" name="Rokopis 18">
                <a:extLst>
                  <a:ext uri="{FF2B5EF4-FFF2-40B4-BE49-F238E27FC236}">
                    <a16:creationId xmlns:a16="http://schemas.microsoft.com/office/drawing/2014/main" id="{AC623A4E-6178-438F-93DE-1A3220FB88F7}"/>
                  </a:ext>
                </a:extLst>
              </p:cNvPr>
              <p:cNvPicPr/>
              <p:nvPr/>
            </p:nvPicPr>
            <p:blipFill>
              <a:blip r:embed="rId27"/>
              <a:stretch>
                <a:fillRect/>
              </a:stretch>
            </p:blipFill>
            <p:spPr>
              <a:xfrm>
                <a:off x="10837677" y="4441121"/>
                <a:ext cx="89640" cy="169560"/>
              </a:xfrm>
              <a:prstGeom prst="rect">
                <a:avLst/>
              </a:prstGeom>
            </p:spPr>
          </p:pic>
        </mc:Fallback>
      </mc:AlternateContent>
    </p:spTree>
    <p:extLst>
      <p:ext uri="{BB962C8B-B14F-4D97-AF65-F5344CB8AC3E}">
        <p14:creationId xmlns:p14="http://schemas.microsoft.com/office/powerpoint/2010/main" val="3983659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B24A54C-44CF-48D7-A4AC-CEFA78F3CE2E}"/>
              </a:ext>
            </a:extLst>
          </p:cNvPr>
          <p:cNvSpPr>
            <a:spLocks noGrp="1"/>
          </p:cNvSpPr>
          <p:nvPr>
            <p:ph type="title"/>
          </p:nvPr>
        </p:nvSpPr>
        <p:spPr/>
        <p:txBody>
          <a:bodyPr/>
          <a:lstStyle/>
          <a:p>
            <a:endParaRPr lang="sl-SI"/>
          </a:p>
        </p:txBody>
      </p:sp>
      <p:pic>
        <p:nvPicPr>
          <p:cNvPr id="5" name="Slika 4">
            <a:extLst>
              <a:ext uri="{FF2B5EF4-FFF2-40B4-BE49-F238E27FC236}">
                <a16:creationId xmlns:a16="http://schemas.microsoft.com/office/drawing/2014/main" id="{B03593AA-6A5D-45BC-95DA-6E0BA2093A6D}"/>
              </a:ext>
            </a:extLst>
          </p:cNvPr>
          <p:cNvPicPr>
            <a:picLocks noChangeAspect="1"/>
          </p:cNvPicPr>
          <p:nvPr/>
        </p:nvPicPr>
        <p:blipFill>
          <a:blip r:embed="rId2"/>
          <a:stretch>
            <a:fillRect/>
          </a:stretch>
        </p:blipFill>
        <p:spPr>
          <a:xfrm>
            <a:off x="0" y="1246605"/>
            <a:ext cx="12192000" cy="4364789"/>
          </a:xfrm>
          <a:prstGeom prst="rect">
            <a:avLst/>
          </a:prstGeom>
        </p:spPr>
      </p:pic>
    </p:spTree>
    <p:extLst>
      <p:ext uri="{BB962C8B-B14F-4D97-AF65-F5344CB8AC3E}">
        <p14:creationId xmlns:p14="http://schemas.microsoft.com/office/powerpoint/2010/main" val="431533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AFBDA8C-A7BF-4F00-9459-9FF5F517B2C7}"/>
              </a:ext>
            </a:extLst>
          </p:cNvPr>
          <p:cNvSpPr>
            <a:spLocks noGrp="1"/>
          </p:cNvSpPr>
          <p:nvPr>
            <p:ph type="title"/>
          </p:nvPr>
        </p:nvSpPr>
        <p:spPr/>
        <p:txBody>
          <a:bodyPr/>
          <a:lstStyle/>
          <a:p>
            <a:r>
              <a:rPr lang="sl-SI" dirty="0"/>
              <a:t>Sekantna metoda</a:t>
            </a:r>
          </a:p>
        </p:txBody>
      </p:sp>
      <p:sp>
        <p:nvSpPr>
          <p:cNvPr id="4" name="Pravokotnik 3">
            <a:extLst>
              <a:ext uri="{FF2B5EF4-FFF2-40B4-BE49-F238E27FC236}">
                <a16:creationId xmlns:a16="http://schemas.microsoft.com/office/drawing/2014/main" id="{79CBDDE8-CB1C-4652-9F48-82EE0072F492}"/>
              </a:ext>
            </a:extLst>
          </p:cNvPr>
          <p:cNvSpPr/>
          <p:nvPr/>
        </p:nvSpPr>
        <p:spPr>
          <a:xfrm>
            <a:off x="838200" y="1542187"/>
            <a:ext cx="10591800" cy="1200329"/>
          </a:xfrm>
          <a:prstGeom prst="rect">
            <a:avLst/>
          </a:prstGeom>
        </p:spPr>
        <p:txBody>
          <a:bodyPr wrap="square">
            <a:spAutoFit/>
          </a:bodyPr>
          <a:lstStyle/>
          <a:p>
            <a:pPr algn="just"/>
            <a:r>
              <a:rPr lang="sl-SI" dirty="0"/>
              <a:t>Da lahko začnemo izvajati sekantno metodo, potrebujemo dva začetna približka za ničlo - označimo ju </a:t>
            </a:r>
            <a:r>
              <a:rPr lang="sl-SI" i="1" dirty="0"/>
              <a:t>x</a:t>
            </a:r>
            <a:r>
              <a:rPr lang="sl-SI" dirty="0"/>
              <a:t>0 in x1. Pogosto ju izberemo tako, da je predznak funkcije F(x) v točki x0 različen kot v točki x1, lahko pa tudi drugače. Nadaljevanje postopka je zelo podobno kot pri metodi </a:t>
            </a:r>
            <a:r>
              <a:rPr lang="sl-SI" dirty="0" err="1"/>
              <a:t>regula</a:t>
            </a:r>
            <a:r>
              <a:rPr lang="sl-SI" dirty="0"/>
              <a:t> </a:t>
            </a:r>
            <a:r>
              <a:rPr lang="sl-SI" dirty="0" err="1"/>
              <a:t>falsi</a:t>
            </a:r>
            <a:r>
              <a:rPr lang="sl-SI" dirty="0"/>
              <a:t>, le da ničla ne leži nujno na intervalu med obema približkoma.</a:t>
            </a:r>
          </a:p>
        </p:txBody>
      </p:sp>
      <p:pic>
        <p:nvPicPr>
          <p:cNvPr id="8" name="Grafika 7">
            <a:extLst>
              <a:ext uri="{FF2B5EF4-FFF2-40B4-BE49-F238E27FC236}">
                <a16:creationId xmlns:a16="http://schemas.microsoft.com/office/drawing/2014/main" id="{81ECA3B4-EBB4-4B3B-97A3-82B9B4F3AB1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33687" y="2867750"/>
            <a:ext cx="6524625" cy="3781425"/>
          </a:xfrm>
          <a:prstGeom prst="rect">
            <a:avLst/>
          </a:prstGeom>
        </p:spPr>
      </p:pic>
    </p:spTree>
    <p:extLst>
      <p:ext uri="{BB962C8B-B14F-4D97-AF65-F5344CB8AC3E}">
        <p14:creationId xmlns:p14="http://schemas.microsoft.com/office/powerpoint/2010/main" val="1536481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AFBDA8C-A7BF-4F00-9459-9FF5F517B2C7}"/>
              </a:ext>
            </a:extLst>
          </p:cNvPr>
          <p:cNvSpPr>
            <a:spLocks noGrp="1"/>
          </p:cNvSpPr>
          <p:nvPr>
            <p:ph type="title"/>
          </p:nvPr>
        </p:nvSpPr>
        <p:spPr/>
        <p:txBody>
          <a:bodyPr/>
          <a:lstStyle/>
          <a:p>
            <a:r>
              <a:rPr lang="sl-SI" dirty="0"/>
              <a:t>Sekantna metoda</a:t>
            </a:r>
          </a:p>
        </p:txBody>
      </p:sp>
      <p:pic>
        <p:nvPicPr>
          <p:cNvPr id="5" name="Slika 4" descr="Slika, ki vsebuje besede posnetek zaslona&#10;&#10;Opis je samodejno ustvarjen">
            <a:extLst>
              <a:ext uri="{FF2B5EF4-FFF2-40B4-BE49-F238E27FC236}">
                <a16:creationId xmlns:a16="http://schemas.microsoft.com/office/drawing/2014/main" id="{7E6C3209-1B00-49F6-9C75-B42B17FAB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444" y="1461003"/>
            <a:ext cx="7394496" cy="3730887"/>
          </a:xfrm>
          <a:prstGeom prst="rect">
            <a:avLst/>
          </a:prstGeom>
        </p:spPr>
      </p:pic>
      <p:sp>
        <p:nvSpPr>
          <p:cNvPr id="38" name="Pravokotnik 37">
            <a:extLst>
              <a:ext uri="{FF2B5EF4-FFF2-40B4-BE49-F238E27FC236}">
                <a16:creationId xmlns:a16="http://schemas.microsoft.com/office/drawing/2014/main" id="{4EDE7F85-53D0-4B45-B6DD-9116A87A78B9}"/>
              </a:ext>
            </a:extLst>
          </p:cNvPr>
          <p:cNvSpPr/>
          <p:nvPr/>
        </p:nvSpPr>
        <p:spPr>
          <a:xfrm>
            <a:off x="1371600" y="4030800"/>
            <a:ext cx="3171826" cy="1026975"/>
          </a:xfrm>
          <a:prstGeom prst="rect">
            <a:avLst/>
          </a:prstGeom>
          <a:solidFill>
            <a:srgbClr val="C8BEB7"/>
          </a:solidFill>
          <a:ln>
            <a:solidFill>
              <a:srgbClr val="C8BEB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8" name="PoljeZBesedilom 47">
                <a:extLst>
                  <a:ext uri="{FF2B5EF4-FFF2-40B4-BE49-F238E27FC236}">
                    <a16:creationId xmlns:a16="http://schemas.microsoft.com/office/drawing/2014/main" id="{CA8834EE-8A05-46A9-8FA2-5FD16A049F65}"/>
                  </a:ext>
                </a:extLst>
              </p:cNvPr>
              <p:cNvSpPr txBox="1"/>
              <p:nvPr/>
            </p:nvSpPr>
            <p:spPr>
              <a:xfrm>
                <a:off x="1438539" y="4135575"/>
                <a:ext cx="2989216" cy="824906"/>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sl-SI" b="0" i="1" smtClean="0">
                              <a:latin typeface="Cambria Math" panose="02040503050406030204" pitchFamily="18" charset="0"/>
                            </a:rPr>
                            <m:t>𝑥</m:t>
                          </m:r>
                        </m:e>
                        <m:sub>
                          <m:r>
                            <a:rPr lang="sl-SI" b="0" i="1" smtClean="0">
                              <a:latin typeface="Cambria Math" panose="02040503050406030204" pitchFamily="18" charset="0"/>
                            </a:rPr>
                            <m:t>𝑛</m:t>
                          </m:r>
                          <m:r>
                            <a:rPr lang="sl-SI" b="0" i="1" smtClean="0">
                              <a:latin typeface="Cambria Math" panose="02040503050406030204" pitchFamily="18" charset="0"/>
                            </a:rPr>
                            <m:t>+1</m:t>
                          </m:r>
                        </m:sub>
                      </m:sSub>
                      <m:r>
                        <a:rPr lang="sl-SI" b="0" i="1" smtClean="0">
                          <a:latin typeface="Cambria Math" panose="02040503050406030204" pitchFamily="18" charset="0"/>
                        </a:rPr>
                        <m:t>=</m:t>
                      </m:r>
                      <m:sSub>
                        <m:sSubPr>
                          <m:ctrlPr>
                            <a:rPr lang="sl-SI" b="0" i="1" smtClean="0">
                              <a:latin typeface="Cambria Math" panose="02040503050406030204" pitchFamily="18" charset="0"/>
                            </a:rPr>
                          </m:ctrlPr>
                        </m:sSubPr>
                        <m:e>
                          <m:r>
                            <a:rPr lang="sl-SI" b="0" i="1" smtClean="0">
                              <a:latin typeface="Cambria Math" panose="02040503050406030204" pitchFamily="18" charset="0"/>
                            </a:rPr>
                            <m:t>𝑥</m:t>
                          </m:r>
                        </m:e>
                        <m:sub>
                          <m:r>
                            <a:rPr lang="sl-SI" b="0" i="1" smtClean="0">
                              <a:latin typeface="Cambria Math" panose="02040503050406030204" pitchFamily="18" charset="0"/>
                            </a:rPr>
                            <m:t>𝑛</m:t>
                          </m:r>
                        </m:sub>
                      </m:sSub>
                      <m:r>
                        <a:rPr lang="sl-SI" b="0" i="1" smtClean="0">
                          <a:latin typeface="Cambria Math" panose="02040503050406030204" pitchFamily="18" charset="0"/>
                        </a:rPr>
                        <m:t>−</m:t>
                      </m:r>
                      <m:f>
                        <m:fPr>
                          <m:ctrlPr>
                            <a:rPr lang="sl-SI" b="0" i="1" smtClean="0">
                              <a:latin typeface="Cambria Math" panose="02040503050406030204" pitchFamily="18" charset="0"/>
                            </a:rPr>
                          </m:ctrlPr>
                        </m:fPr>
                        <m:num>
                          <m:r>
                            <a:rPr lang="sl-SI" b="0" i="1" smtClean="0">
                              <a:latin typeface="Cambria Math" panose="02040503050406030204" pitchFamily="18" charset="0"/>
                            </a:rPr>
                            <m:t>𝑓</m:t>
                          </m:r>
                          <m:r>
                            <a:rPr lang="sl-SI" b="0" i="1" smtClean="0">
                              <a:latin typeface="Cambria Math" panose="02040503050406030204" pitchFamily="18" charset="0"/>
                            </a:rPr>
                            <m:t>(</m:t>
                          </m:r>
                          <m:sSub>
                            <m:sSubPr>
                              <m:ctrlPr>
                                <a:rPr lang="sl-SI" i="1">
                                  <a:latin typeface="Cambria Math" panose="02040503050406030204" pitchFamily="18" charset="0"/>
                                </a:rPr>
                              </m:ctrlPr>
                            </m:sSubPr>
                            <m:e>
                              <m:r>
                                <a:rPr lang="sl-SI" i="1">
                                  <a:latin typeface="Cambria Math" panose="02040503050406030204" pitchFamily="18" charset="0"/>
                                </a:rPr>
                                <m:t>𝑥</m:t>
                              </m:r>
                            </m:e>
                            <m:sub>
                              <m:r>
                                <a:rPr lang="sl-SI" i="1">
                                  <a:latin typeface="Cambria Math" panose="02040503050406030204" pitchFamily="18" charset="0"/>
                                </a:rPr>
                                <m:t>𝑛</m:t>
                              </m:r>
                            </m:sub>
                          </m:sSub>
                          <m:r>
                            <a:rPr lang="sl-SI" b="0" i="1" smtClean="0">
                              <a:latin typeface="Cambria Math" panose="02040503050406030204" pitchFamily="18" charset="0"/>
                            </a:rPr>
                            <m:t>)</m:t>
                          </m:r>
                        </m:num>
                        <m:den>
                          <m:f>
                            <m:fPr>
                              <m:ctrlPr>
                                <a:rPr lang="sl-SI" b="0" i="1" smtClean="0">
                                  <a:latin typeface="Cambria Math" panose="02040503050406030204" pitchFamily="18" charset="0"/>
                                </a:rPr>
                              </m:ctrlPr>
                            </m:fPr>
                            <m:num>
                              <m:r>
                                <a:rPr lang="sl-SI" i="1">
                                  <a:latin typeface="Cambria Math" panose="02040503050406030204" pitchFamily="18" charset="0"/>
                                </a:rPr>
                                <m:t>𝑓</m:t>
                              </m:r>
                              <m:d>
                                <m:dPr>
                                  <m:ctrlPr>
                                    <a:rPr lang="sl-SI" i="1">
                                      <a:latin typeface="Cambria Math" panose="02040503050406030204" pitchFamily="18" charset="0"/>
                                    </a:rPr>
                                  </m:ctrlPr>
                                </m:dPr>
                                <m:e>
                                  <m:sSub>
                                    <m:sSubPr>
                                      <m:ctrlPr>
                                        <a:rPr lang="sl-SI" i="1">
                                          <a:latin typeface="Cambria Math" panose="02040503050406030204" pitchFamily="18" charset="0"/>
                                        </a:rPr>
                                      </m:ctrlPr>
                                    </m:sSubPr>
                                    <m:e>
                                      <m:r>
                                        <a:rPr lang="sl-SI" i="1">
                                          <a:latin typeface="Cambria Math" panose="02040503050406030204" pitchFamily="18" charset="0"/>
                                        </a:rPr>
                                        <m:t>𝑥</m:t>
                                      </m:r>
                                    </m:e>
                                    <m:sub>
                                      <m:r>
                                        <a:rPr lang="sl-SI" i="1">
                                          <a:latin typeface="Cambria Math" panose="02040503050406030204" pitchFamily="18" charset="0"/>
                                        </a:rPr>
                                        <m:t>𝑛</m:t>
                                      </m:r>
                                    </m:sub>
                                  </m:sSub>
                                </m:e>
                              </m:d>
                              <m:r>
                                <a:rPr lang="sl-SI" b="0" i="1" smtClean="0">
                                  <a:latin typeface="Cambria Math" panose="02040503050406030204" pitchFamily="18" charset="0"/>
                                </a:rPr>
                                <m:t>−</m:t>
                              </m:r>
                              <m:r>
                                <a:rPr lang="sl-SI" i="1">
                                  <a:latin typeface="Cambria Math" panose="02040503050406030204" pitchFamily="18" charset="0"/>
                                </a:rPr>
                                <m:t>𝑓</m:t>
                              </m:r>
                              <m:r>
                                <a:rPr lang="sl-SI" i="1">
                                  <a:latin typeface="Cambria Math" panose="02040503050406030204" pitchFamily="18" charset="0"/>
                                </a:rPr>
                                <m:t>(</m:t>
                              </m:r>
                              <m:sSub>
                                <m:sSubPr>
                                  <m:ctrlPr>
                                    <a:rPr lang="sl-SI" i="1">
                                      <a:latin typeface="Cambria Math" panose="02040503050406030204" pitchFamily="18" charset="0"/>
                                    </a:rPr>
                                  </m:ctrlPr>
                                </m:sSubPr>
                                <m:e>
                                  <m:r>
                                    <a:rPr lang="sl-SI" i="1">
                                      <a:latin typeface="Cambria Math" panose="02040503050406030204" pitchFamily="18" charset="0"/>
                                    </a:rPr>
                                    <m:t>𝑥</m:t>
                                  </m:r>
                                </m:e>
                                <m:sub>
                                  <m:r>
                                    <a:rPr lang="sl-SI" i="1">
                                      <a:latin typeface="Cambria Math" panose="02040503050406030204" pitchFamily="18" charset="0"/>
                                    </a:rPr>
                                    <m:t>𝑛</m:t>
                                  </m:r>
                                  <m:r>
                                    <a:rPr lang="sl-SI" b="0" i="1" smtClean="0">
                                      <a:latin typeface="Cambria Math" panose="02040503050406030204" pitchFamily="18" charset="0"/>
                                    </a:rPr>
                                    <m:t>−1</m:t>
                                  </m:r>
                                </m:sub>
                              </m:sSub>
                              <m:r>
                                <a:rPr lang="sl-SI" i="1">
                                  <a:latin typeface="Cambria Math" panose="02040503050406030204" pitchFamily="18" charset="0"/>
                                </a:rPr>
                                <m:t>)</m:t>
                              </m:r>
                            </m:num>
                            <m:den>
                              <m:sSub>
                                <m:sSubPr>
                                  <m:ctrlPr>
                                    <a:rPr lang="sl-SI" i="1">
                                      <a:latin typeface="Cambria Math" panose="02040503050406030204" pitchFamily="18" charset="0"/>
                                    </a:rPr>
                                  </m:ctrlPr>
                                </m:sSubPr>
                                <m:e>
                                  <m:r>
                                    <a:rPr lang="sl-SI" i="1">
                                      <a:latin typeface="Cambria Math" panose="02040503050406030204" pitchFamily="18" charset="0"/>
                                    </a:rPr>
                                    <m:t>𝑥</m:t>
                                  </m:r>
                                </m:e>
                                <m:sub>
                                  <m:r>
                                    <a:rPr lang="sl-SI" i="1">
                                      <a:latin typeface="Cambria Math" panose="02040503050406030204" pitchFamily="18" charset="0"/>
                                    </a:rPr>
                                    <m:t>𝑛</m:t>
                                  </m:r>
                                </m:sub>
                              </m:sSub>
                              <m:r>
                                <a:rPr lang="sl-SI" b="0" i="1" smtClean="0">
                                  <a:latin typeface="Cambria Math" panose="02040503050406030204" pitchFamily="18" charset="0"/>
                                </a:rPr>
                                <m:t>−</m:t>
                              </m:r>
                              <m:sSub>
                                <m:sSubPr>
                                  <m:ctrlPr>
                                    <a:rPr lang="sl-SI" i="1">
                                      <a:latin typeface="Cambria Math" panose="02040503050406030204" pitchFamily="18" charset="0"/>
                                    </a:rPr>
                                  </m:ctrlPr>
                                </m:sSubPr>
                                <m:e>
                                  <m:r>
                                    <a:rPr lang="sl-SI" i="1">
                                      <a:latin typeface="Cambria Math" panose="02040503050406030204" pitchFamily="18" charset="0"/>
                                    </a:rPr>
                                    <m:t>𝑥</m:t>
                                  </m:r>
                                </m:e>
                                <m:sub>
                                  <m:r>
                                    <a:rPr lang="sl-SI" i="1">
                                      <a:latin typeface="Cambria Math" panose="02040503050406030204" pitchFamily="18" charset="0"/>
                                    </a:rPr>
                                    <m:t>𝑛</m:t>
                                  </m:r>
                                  <m:r>
                                    <a:rPr lang="sl-SI" b="0" i="1" smtClean="0">
                                      <a:latin typeface="Cambria Math" panose="02040503050406030204" pitchFamily="18" charset="0"/>
                                    </a:rPr>
                                    <m:t>−1</m:t>
                                  </m:r>
                                </m:sub>
                              </m:sSub>
                            </m:den>
                          </m:f>
                        </m:den>
                      </m:f>
                    </m:oMath>
                  </m:oMathPara>
                </a14:m>
                <a:endParaRPr lang="en-US" dirty="0"/>
              </a:p>
            </p:txBody>
          </p:sp>
        </mc:Choice>
        <mc:Fallback>
          <p:sp>
            <p:nvSpPr>
              <p:cNvPr id="48" name="PoljeZBesedilom 47">
                <a:extLst>
                  <a:ext uri="{FF2B5EF4-FFF2-40B4-BE49-F238E27FC236}">
                    <a16:creationId xmlns:a16="http://schemas.microsoft.com/office/drawing/2014/main" id="{CA8834EE-8A05-46A9-8FA2-5FD16A049F65}"/>
                  </a:ext>
                </a:extLst>
              </p:cNvPr>
              <p:cNvSpPr txBox="1">
                <a:spLocks noRot="1" noChangeAspect="1" noMove="1" noResize="1" noEditPoints="1" noAdjustHandles="1" noChangeArrowheads="1" noChangeShapeType="1" noTextEdit="1"/>
              </p:cNvSpPr>
              <p:nvPr/>
            </p:nvSpPr>
            <p:spPr>
              <a:xfrm>
                <a:off x="1438539" y="4135575"/>
                <a:ext cx="2989216" cy="82490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64910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CEEF2CC7-441F-4D68-836E-FDF1AFEC3CAA}"/>
              </a:ext>
            </a:extLst>
          </p:cNvPr>
          <p:cNvSpPr>
            <a:spLocks noGrp="1"/>
          </p:cNvSpPr>
          <p:nvPr>
            <p:ph type="title"/>
          </p:nvPr>
        </p:nvSpPr>
        <p:spPr/>
        <p:txBody>
          <a:bodyPr/>
          <a:lstStyle/>
          <a:p>
            <a:r>
              <a:rPr lang="sl-SI" dirty="0"/>
              <a:t>NEWTONOVA METODA</a:t>
            </a:r>
          </a:p>
        </p:txBody>
      </p:sp>
      <p:pic>
        <p:nvPicPr>
          <p:cNvPr id="6" name="Slika 5" descr="Slika, ki vsebuje besede posnetek zaslona&#10;&#10;Opis je samodejno ustvarjen">
            <a:extLst>
              <a:ext uri="{FF2B5EF4-FFF2-40B4-BE49-F238E27FC236}">
                <a16:creationId xmlns:a16="http://schemas.microsoft.com/office/drawing/2014/main" id="{98750F29-BFA0-4B75-8532-8F9D1D8516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697" y="1429562"/>
            <a:ext cx="11379205" cy="2795107"/>
          </a:xfrm>
          <a:prstGeom prst="rect">
            <a:avLst/>
          </a:prstGeom>
        </p:spPr>
      </p:pic>
      <p:pic>
        <p:nvPicPr>
          <p:cNvPr id="7" name="Grafika 6">
            <a:extLst>
              <a:ext uri="{FF2B5EF4-FFF2-40B4-BE49-F238E27FC236}">
                <a16:creationId xmlns:a16="http://schemas.microsoft.com/office/drawing/2014/main" id="{1697FFE8-2866-4B42-A60E-50B98BB5FE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697" y="4326049"/>
            <a:ext cx="3804214" cy="2204778"/>
          </a:xfrm>
          <a:prstGeom prst="rect">
            <a:avLst/>
          </a:prstGeom>
        </p:spPr>
      </p:pic>
      <p:grpSp>
        <p:nvGrpSpPr>
          <p:cNvPr id="69" name="Skupina 68">
            <a:extLst>
              <a:ext uri="{FF2B5EF4-FFF2-40B4-BE49-F238E27FC236}">
                <a16:creationId xmlns:a16="http://schemas.microsoft.com/office/drawing/2014/main" id="{4BEED3C5-66AC-45F7-8FC0-40368DFF4043}"/>
              </a:ext>
            </a:extLst>
          </p:cNvPr>
          <p:cNvGrpSpPr/>
          <p:nvPr/>
        </p:nvGrpSpPr>
        <p:grpSpPr>
          <a:xfrm>
            <a:off x="10238420" y="2699880"/>
            <a:ext cx="345960" cy="544320"/>
            <a:chOff x="10238420" y="2699880"/>
            <a:chExt cx="345960" cy="544320"/>
          </a:xfrm>
        </p:grpSpPr>
        <mc:AlternateContent xmlns:mc="http://schemas.openxmlformats.org/markup-compatibility/2006" xmlns:p14="http://schemas.microsoft.com/office/powerpoint/2010/main">
          <mc:Choice Requires="p14">
            <p:contentPart p14:bwMode="auto" r:id="rId5">
              <p14:nvContentPartPr>
                <p14:cNvPr id="65" name="Rokopis 64">
                  <a:extLst>
                    <a:ext uri="{FF2B5EF4-FFF2-40B4-BE49-F238E27FC236}">
                      <a16:creationId xmlns:a16="http://schemas.microsoft.com/office/drawing/2014/main" id="{F4C0BB47-705F-4A1A-BA5A-74748C106ADC}"/>
                    </a:ext>
                  </a:extLst>
                </p14:cNvPr>
                <p14:cNvContentPartPr/>
                <p14:nvPr/>
              </p14:nvContentPartPr>
              <p14:xfrm>
                <a:off x="10238420" y="2699880"/>
                <a:ext cx="240480" cy="118800"/>
              </p14:xfrm>
            </p:contentPart>
          </mc:Choice>
          <mc:Fallback xmlns="">
            <p:pic>
              <p:nvPicPr>
                <p:cNvPr id="65" name="Rokopis 64">
                  <a:extLst>
                    <a:ext uri="{FF2B5EF4-FFF2-40B4-BE49-F238E27FC236}">
                      <a16:creationId xmlns:a16="http://schemas.microsoft.com/office/drawing/2014/main" id="{F4C0BB47-705F-4A1A-BA5A-74748C106ADC}"/>
                    </a:ext>
                  </a:extLst>
                </p:cNvPr>
                <p:cNvPicPr/>
                <p:nvPr/>
              </p:nvPicPr>
              <p:blipFill>
                <a:blip r:embed="rId96"/>
                <a:stretch>
                  <a:fillRect/>
                </a:stretch>
              </p:blipFill>
              <p:spPr>
                <a:xfrm>
                  <a:off x="10234100" y="2695560"/>
                  <a:ext cx="2491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6" name="Rokopis 65">
                  <a:extLst>
                    <a:ext uri="{FF2B5EF4-FFF2-40B4-BE49-F238E27FC236}">
                      <a16:creationId xmlns:a16="http://schemas.microsoft.com/office/drawing/2014/main" id="{6EA9851A-9D3C-4469-9CA3-6A923C1F301F}"/>
                    </a:ext>
                  </a:extLst>
                </p14:cNvPr>
                <p14:cNvContentPartPr/>
                <p14:nvPr/>
              </p14:nvContentPartPr>
              <p14:xfrm>
                <a:off x="10384220" y="2907600"/>
                <a:ext cx="15120" cy="130320"/>
              </p14:xfrm>
            </p:contentPart>
          </mc:Choice>
          <mc:Fallback xmlns="">
            <p:pic>
              <p:nvPicPr>
                <p:cNvPr id="66" name="Rokopis 65">
                  <a:extLst>
                    <a:ext uri="{FF2B5EF4-FFF2-40B4-BE49-F238E27FC236}">
                      <a16:creationId xmlns:a16="http://schemas.microsoft.com/office/drawing/2014/main" id="{6EA9851A-9D3C-4469-9CA3-6A923C1F301F}"/>
                    </a:ext>
                  </a:extLst>
                </p:cNvPr>
                <p:cNvPicPr/>
                <p:nvPr/>
              </p:nvPicPr>
              <p:blipFill>
                <a:blip r:embed="rId98"/>
                <a:stretch>
                  <a:fillRect/>
                </a:stretch>
              </p:blipFill>
              <p:spPr>
                <a:xfrm>
                  <a:off x="10379900" y="2903280"/>
                  <a:ext cx="2376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7" name="Rokopis 66">
                  <a:extLst>
                    <a:ext uri="{FF2B5EF4-FFF2-40B4-BE49-F238E27FC236}">
                      <a16:creationId xmlns:a16="http://schemas.microsoft.com/office/drawing/2014/main" id="{09D306EE-CAD6-4F0C-878A-E89C77EC36DB}"/>
                    </a:ext>
                  </a:extLst>
                </p14:cNvPr>
                <p14:cNvContentPartPr/>
                <p14:nvPr/>
              </p14:nvContentPartPr>
              <p14:xfrm>
                <a:off x="10349660" y="2981400"/>
                <a:ext cx="144720" cy="102240"/>
              </p14:xfrm>
            </p:contentPart>
          </mc:Choice>
          <mc:Fallback xmlns="">
            <p:pic>
              <p:nvPicPr>
                <p:cNvPr id="67" name="Rokopis 66">
                  <a:extLst>
                    <a:ext uri="{FF2B5EF4-FFF2-40B4-BE49-F238E27FC236}">
                      <a16:creationId xmlns:a16="http://schemas.microsoft.com/office/drawing/2014/main" id="{09D306EE-CAD6-4F0C-878A-E89C77EC36DB}"/>
                    </a:ext>
                  </a:extLst>
                </p:cNvPr>
                <p:cNvPicPr/>
                <p:nvPr/>
              </p:nvPicPr>
              <p:blipFill>
                <a:blip r:embed="rId100"/>
                <a:stretch>
                  <a:fillRect/>
                </a:stretch>
              </p:blipFill>
              <p:spPr>
                <a:xfrm>
                  <a:off x="10345340" y="2977080"/>
                  <a:ext cx="15336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8" name="Rokopis 67">
                  <a:extLst>
                    <a:ext uri="{FF2B5EF4-FFF2-40B4-BE49-F238E27FC236}">
                      <a16:creationId xmlns:a16="http://schemas.microsoft.com/office/drawing/2014/main" id="{BF9B2A84-8E06-4066-BFFE-D5F102747AEC}"/>
                    </a:ext>
                  </a:extLst>
                </p14:cNvPr>
                <p14:cNvContentPartPr/>
                <p14:nvPr/>
              </p14:nvContentPartPr>
              <p14:xfrm>
                <a:off x="10320860" y="3181560"/>
                <a:ext cx="263520" cy="62640"/>
              </p14:xfrm>
            </p:contentPart>
          </mc:Choice>
          <mc:Fallback xmlns="">
            <p:pic>
              <p:nvPicPr>
                <p:cNvPr id="68" name="Rokopis 67">
                  <a:extLst>
                    <a:ext uri="{FF2B5EF4-FFF2-40B4-BE49-F238E27FC236}">
                      <a16:creationId xmlns:a16="http://schemas.microsoft.com/office/drawing/2014/main" id="{BF9B2A84-8E06-4066-BFFE-D5F102747AEC}"/>
                    </a:ext>
                  </a:extLst>
                </p:cNvPr>
                <p:cNvPicPr/>
                <p:nvPr/>
              </p:nvPicPr>
              <p:blipFill>
                <a:blip r:embed="rId102"/>
                <a:stretch>
                  <a:fillRect/>
                </a:stretch>
              </p:blipFill>
              <p:spPr>
                <a:xfrm>
                  <a:off x="10316540" y="3177240"/>
                  <a:ext cx="272160" cy="71280"/>
                </a:xfrm>
                <a:prstGeom prst="rect">
                  <a:avLst/>
                </a:prstGeom>
              </p:spPr>
            </p:pic>
          </mc:Fallback>
        </mc:AlternateContent>
      </p:grpSp>
      <p:sp>
        <p:nvSpPr>
          <p:cNvPr id="61" name="Pravokotnik 60">
            <a:extLst>
              <a:ext uri="{FF2B5EF4-FFF2-40B4-BE49-F238E27FC236}">
                <a16:creationId xmlns:a16="http://schemas.microsoft.com/office/drawing/2014/main" id="{183B2CCA-C380-4634-8514-66BD6FC2B0E8}"/>
              </a:ext>
            </a:extLst>
          </p:cNvPr>
          <p:cNvSpPr/>
          <p:nvPr/>
        </p:nvSpPr>
        <p:spPr>
          <a:xfrm>
            <a:off x="9140997" y="2368769"/>
            <a:ext cx="2175120" cy="885746"/>
          </a:xfrm>
          <a:prstGeom prst="rect">
            <a:avLst/>
          </a:prstGeom>
          <a:solidFill>
            <a:srgbClr val="C8BEB7"/>
          </a:solidFill>
          <a:ln>
            <a:solidFill>
              <a:srgbClr val="C8BEB7"/>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70" name="PoljeZBesedilom 69">
                <a:extLst>
                  <a:ext uri="{FF2B5EF4-FFF2-40B4-BE49-F238E27FC236}">
                    <a16:creationId xmlns:a16="http://schemas.microsoft.com/office/drawing/2014/main" id="{A17542AD-3316-46C7-96F9-21BE7FFE68F1}"/>
                  </a:ext>
                </a:extLst>
              </p:cNvPr>
              <p:cNvSpPr txBox="1"/>
              <p:nvPr/>
            </p:nvSpPr>
            <p:spPr>
              <a:xfrm>
                <a:off x="9296256" y="2491418"/>
                <a:ext cx="1979388" cy="57676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sl-SI" b="0" i="1" smtClean="0">
                              <a:latin typeface="Cambria Math" panose="02040503050406030204" pitchFamily="18" charset="0"/>
                            </a:rPr>
                            <m:t>𝑥</m:t>
                          </m:r>
                        </m:e>
                        <m:sub>
                          <m:r>
                            <a:rPr lang="sl-SI" b="0" i="1" smtClean="0">
                              <a:latin typeface="Cambria Math" panose="02040503050406030204" pitchFamily="18" charset="0"/>
                            </a:rPr>
                            <m:t>𝑛</m:t>
                          </m:r>
                          <m:r>
                            <a:rPr lang="sl-SI" b="0" i="1" smtClean="0">
                              <a:latin typeface="Cambria Math" panose="02040503050406030204" pitchFamily="18" charset="0"/>
                            </a:rPr>
                            <m:t>+1</m:t>
                          </m:r>
                        </m:sub>
                      </m:sSub>
                      <m:r>
                        <a:rPr lang="sl-SI" b="0" i="1" smtClean="0">
                          <a:latin typeface="Cambria Math" panose="02040503050406030204" pitchFamily="18" charset="0"/>
                        </a:rPr>
                        <m:t>=</m:t>
                      </m:r>
                      <m:sSub>
                        <m:sSubPr>
                          <m:ctrlPr>
                            <a:rPr lang="sl-SI" b="0" i="1" smtClean="0">
                              <a:latin typeface="Cambria Math" panose="02040503050406030204" pitchFamily="18" charset="0"/>
                            </a:rPr>
                          </m:ctrlPr>
                        </m:sSubPr>
                        <m:e>
                          <m:r>
                            <a:rPr lang="sl-SI" b="0" i="1" smtClean="0">
                              <a:latin typeface="Cambria Math" panose="02040503050406030204" pitchFamily="18" charset="0"/>
                            </a:rPr>
                            <m:t>𝑥</m:t>
                          </m:r>
                        </m:e>
                        <m:sub>
                          <m:r>
                            <a:rPr lang="sl-SI" b="0" i="1" smtClean="0">
                              <a:latin typeface="Cambria Math" panose="02040503050406030204" pitchFamily="18" charset="0"/>
                            </a:rPr>
                            <m:t>𝑛</m:t>
                          </m:r>
                        </m:sub>
                      </m:sSub>
                      <m:r>
                        <a:rPr lang="sl-SI" b="0" i="1" smtClean="0">
                          <a:latin typeface="Cambria Math" panose="02040503050406030204" pitchFamily="18" charset="0"/>
                        </a:rPr>
                        <m:t>−</m:t>
                      </m:r>
                      <m:f>
                        <m:fPr>
                          <m:ctrlPr>
                            <a:rPr lang="sl-SI" b="0" i="1" smtClean="0">
                              <a:latin typeface="Cambria Math" panose="02040503050406030204" pitchFamily="18" charset="0"/>
                            </a:rPr>
                          </m:ctrlPr>
                        </m:fPr>
                        <m:num>
                          <m:r>
                            <a:rPr lang="sl-SI" b="0" i="1" smtClean="0">
                              <a:latin typeface="Cambria Math" panose="02040503050406030204" pitchFamily="18" charset="0"/>
                            </a:rPr>
                            <m:t>𝑓</m:t>
                          </m:r>
                          <m:r>
                            <a:rPr lang="sl-SI" b="0" i="1" smtClean="0">
                              <a:latin typeface="Cambria Math" panose="02040503050406030204" pitchFamily="18" charset="0"/>
                            </a:rPr>
                            <m:t>(</m:t>
                          </m:r>
                          <m:sSub>
                            <m:sSubPr>
                              <m:ctrlPr>
                                <a:rPr lang="sl-SI" i="1">
                                  <a:latin typeface="Cambria Math" panose="02040503050406030204" pitchFamily="18" charset="0"/>
                                </a:rPr>
                              </m:ctrlPr>
                            </m:sSubPr>
                            <m:e>
                              <m:r>
                                <a:rPr lang="sl-SI" i="1">
                                  <a:latin typeface="Cambria Math" panose="02040503050406030204" pitchFamily="18" charset="0"/>
                                </a:rPr>
                                <m:t>𝑥</m:t>
                              </m:r>
                            </m:e>
                            <m:sub>
                              <m:r>
                                <a:rPr lang="sl-SI" i="1">
                                  <a:latin typeface="Cambria Math" panose="02040503050406030204" pitchFamily="18" charset="0"/>
                                </a:rPr>
                                <m:t>𝑛</m:t>
                              </m:r>
                            </m:sub>
                          </m:sSub>
                          <m:r>
                            <a:rPr lang="sl-SI" b="0" i="1" smtClean="0">
                              <a:latin typeface="Cambria Math" panose="02040503050406030204" pitchFamily="18" charset="0"/>
                            </a:rPr>
                            <m:t>)</m:t>
                          </m:r>
                        </m:num>
                        <m:den>
                          <m:sSup>
                            <m:sSupPr>
                              <m:ctrlPr>
                                <a:rPr lang="sl-SI" b="0" i="1" smtClean="0">
                                  <a:latin typeface="Cambria Math" panose="02040503050406030204" pitchFamily="18" charset="0"/>
                                </a:rPr>
                              </m:ctrlPr>
                            </m:sSupPr>
                            <m:e>
                              <m:r>
                                <a:rPr lang="sl-SI" b="0" i="1" smtClean="0">
                                  <a:latin typeface="Cambria Math" panose="02040503050406030204" pitchFamily="18" charset="0"/>
                                </a:rPr>
                                <m:t>𝑓</m:t>
                              </m:r>
                            </m:e>
                            <m:sup>
                              <m:r>
                                <a:rPr lang="sl-SI" b="0" i="1" smtClean="0">
                                  <a:latin typeface="Cambria Math" panose="02040503050406030204" pitchFamily="18" charset="0"/>
                                </a:rPr>
                                <m:t>′</m:t>
                              </m:r>
                            </m:sup>
                          </m:sSup>
                          <m:r>
                            <a:rPr lang="sl-SI" i="1">
                              <a:latin typeface="Cambria Math" panose="02040503050406030204" pitchFamily="18" charset="0"/>
                            </a:rPr>
                            <m:t>(</m:t>
                          </m:r>
                          <m:sSub>
                            <m:sSubPr>
                              <m:ctrlPr>
                                <a:rPr lang="sl-SI" i="1">
                                  <a:latin typeface="Cambria Math" panose="02040503050406030204" pitchFamily="18" charset="0"/>
                                </a:rPr>
                              </m:ctrlPr>
                            </m:sSubPr>
                            <m:e>
                              <m:r>
                                <a:rPr lang="sl-SI" i="1">
                                  <a:latin typeface="Cambria Math" panose="02040503050406030204" pitchFamily="18" charset="0"/>
                                </a:rPr>
                                <m:t>𝑥</m:t>
                              </m:r>
                            </m:e>
                            <m:sub>
                              <m:r>
                                <a:rPr lang="sl-SI" i="1">
                                  <a:latin typeface="Cambria Math" panose="02040503050406030204" pitchFamily="18" charset="0"/>
                                </a:rPr>
                                <m:t>𝑛</m:t>
                              </m:r>
                            </m:sub>
                          </m:sSub>
                          <m:r>
                            <a:rPr lang="sl-SI" i="1">
                              <a:latin typeface="Cambria Math" panose="02040503050406030204" pitchFamily="18" charset="0"/>
                            </a:rPr>
                            <m:t>)</m:t>
                          </m:r>
                        </m:den>
                      </m:f>
                    </m:oMath>
                  </m:oMathPara>
                </a14:m>
                <a:endParaRPr lang="en-US" dirty="0"/>
              </a:p>
            </p:txBody>
          </p:sp>
        </mc:Choice>
        <mc:Fallback>
          <p:sp>
            <p:nvSpPr>
              <p:cNvPr id="70" name="PoljeZBesedilom 69">
                <a:extLst>
                  <a:ext uri="{FF2B5EF4-FFF2-40B4-BE49-F238E27FC236}">
                    <a16:creationId xmlns:a16="http://schemas.microsoft.com/office/drawing/2014/main" id="{A17542AD-3316-46C7-96F9-21BE7FFE68F1}"/>
                  </a:ext>
                </a:extLst>
              </p:cNvPr>
              <p:cNvSpPr txBox="1">
                <a:spLocks noRot="1" noChangeAspect="1" noMove="1" noResize="1" noEditPoints="1" noAdjustHandles="1" noChangeArrowheads="1" noChangeShapeType="1" noTextEdit="1"/>
              </p:cNvSpPr>
              <p:nvPr/>
            </p:nvSpPr>
            <p:spPr>
              <a:xfrm>
                <a:off x="9296256" y="2491418"/>
                <a:ext cx="1979388" cy="576761"/>
              </a:xfrm>
              <a:prstGeom prst="rect">
                <a:avLst/>
              </a:prstGeom>
              <a:blipFill>
                <a:blip r:embed="rId10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15133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lika 5" descr="Slika, ki vsebuje besede posnetek zaslona&#10;&#10;Opis je samodejno ustvarjen">
            <a:extLst>
              <a:ext uri="{FF2B5EF4-FFF2-40B4-BE49-F238E27FC236}">
                <a16:creationId xmlns:a16="http://schemas.microsoft.com/office/drawing/2014/main" id="{7868BAA2-BD8D-4993-B6D1-5BAD06A2D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75" y="86394"/>
            <a:ext cx="7645260" cy="6513762"/>
          </a:xfrm>
          <a:prstGeom prst="rect">
            <a:avLst/>
          </a:prstGeom>
        </p:spPr>
      </p:pic>
      <p:sp>
        <p:nvSpPr>
          <p:cNvPr id="7" name="Pravokotnik 6">
            <a:extLst>
              <a:ext uri="{FF2B5EF4-FFF2-40B4-BE49-F238E27FC236}">
                <a16:creationId xmlns:a16="http://schemas.microsoft.com/office/drawing/2014/main" id="{D2AF98BF-8F18-4847-9405-44990DB4EC3C}"/>
              </a:ext>
            </a:extLst>
          </p:cNvPr>
          <p:cNvSpPr/>
          <p:nvPr/>
        </p:nvSpPr>
        <p:spPr>
          <a:xfrm>
            <a:off x="7822747" y="0"/>
            <a:ext cx="4152900" cy="3970318"/>
          </a:xfrm>
          <a:prstGeom prst="rect">
            <a:avLst/>
          </a:prstGeom>
        </p:spPr>
        <p:txBody>
          <a:bodyPr wrap="square">
            <a:spAutoFit/>
          </a:bodyPr>
          <a:lstStyle/>
          <a:p>
            <a:pPr algn="just"/>
            <a:r>
              <a:rPr lang="sl-SI" dirty="0"/>
              <a:t>Program oblikuj tako, da bo iz rezultatov možno ustvariti tabelo, iz katere bo razvidno, koliko </a:t>
            </a:r>
            <a:r>
              <a:rPr lang="sl-SI" b="1" dirty="0"/>
              <a:t>korakov</a:t>
            </a:r>
            <a:r>
              <a:rPr lang="sl-SI" dirty="0"/>
              <a:t> je bilo potrebnih, da je rezultat konvergirala </a:t>
            </a:r>
            <a:r>
              <a:rPr lang="sl-SI" b="1" dirty="0"/>
              <a:t>k ničli funkcije za različne željene natančnosti. </a:t>
            </a:r>
            <a:r>
              <a:rPr lang="sl-SI" dirty="0"/>
              <a:t>Za vsako enačbo in metodo določi koliko število iteracij je bilo potrebno za doseg natančnosti:</a:t>
            </a:r>
          </a:p>
          <a:p>
            <a:pPr algn="just"/>
            <a:endParaRPr lang="sl-SI" dirty="0"/>
          </a:p>
          <a:p>
            <a:pPr algn="just"/>
            <a:r>
              <a:rPr lang="sl-SI" dirty="0"/>
              <a:t>-&gt; 2 decimalnih mest</a:t>
            </a:r>
          </a:p>
          <a:p>
            <a:pPr algn="just"/>
            <a:r>
              <a:rPr lang="sl-SI" dirty="0"/>
              <a:t>-&gt; 3 decimalnih mest</a:t>
            </a:r>
          </a:p>
          <a:p>
            <a:pPr algn="just"/>
            <a:r>
              <a:rPr lang="sl-SI" dirty="0"/>
              <a:t>-&gt; 4 decimalnih mest</a:t>
            </a:r>
          </a:p>
          <a:p>
            <a:pPr algn="just"/>
            <a:r>
              <a:rPr lang="sl-SI" dirty="0"/>
              <a:t>-&gt; 5 decimalnih mest</a:t>
            </a:r>
          </a:p>
          <a:p>
            <a:pPr algn="just"/>
            <a:r>
              <a:rPr lang="sl-SI" dirty="0"/>
              <a:t>-&gt; 6 decimalnih mest</a:t>
            </a:r>
          </a:p>
        </p:txBody>
      </p:sp>
      <p:sp>
        <p:nvSpPr>
          <p:cNvPr id="4" name="Pravokotnik 3">
            <a:extLst>
              <a:ext uri="{FF2B5EF4-FFF2-40B4-BE49-F238E27FC236}">
                <a16:creationId xmlns:a16="http://schemas.microsoft.com/office/drawing/2014/main" id="{D1521AB6-F773-45E8-AAB9-E8B288B43459}"/>
              </a:ext>
            </a:extLst>
          </p:cNvPr>
          <p:cNvSpPr/>
          <p:nvPr/>
        </p:nvSpPr>
        <p:spPr>
          <a:xfrm>
            <a:off x="7822747" y="4410075"/>
            <a:ext cx="4152900" cy="646331"/>
          </a:xfrm>
          <a:prstGeom prst="rect">
            <a:avLst/>
          </a:prstGeom>
        </p:spPr>
        <p:txBody>
          <a:bodyPr wrap="square">
            <a:spAutoFit/>
          </a:bodyPr>
          <a:lstStyle/>
          <a:p>
            <a:pPr algn="just"/>
            <a:r>
              <a:rPr lang="sl-SI" dirty="0"/>
              <a:t>Katera metoda se vam zdi, da je najbolj učinkovita</a:t>
            </a:r>
          </a:p>
        </p:txBody>
      </p:sp>
    </p:spTree>
    <p:extLst>
      <p:ext uri="{BB962C8B-B14F-4D97-AF65-F5344CB8AC3E}">
        <p14:creationId xmlns:p14="http://schemas.microsoft.com/office/powerpoint/2010/main" val="10853235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E5EC2D7A-52C2-4A55-B68A-03BF6B3706B8}"/>
              </a:ext>
            </a:extLst>
          </p:cNvPr>
          <p:cNvSpPr>
            <a:spLocks noGrp="1"/>
          </p:cNvSpPr>
          <p:nvPr>
            <p:ph type="title"/>
          </p:nvPr>
        </p:nvSpPr>
        <p:spPr>
          <a:xfrm>
            <a:off x="0" y="19233"/>
            <a:ext cx="10515600" cy="623724"/>
          </a:xfrm>
        </p:spPr>
        <p:txBody>
          <a:bodyPr>
            <a:normAutofit fontScale="90000"/>
          </a:bodyPr>
          <a:lstStyle/>
          <a:p>
            <a:r>
              <a:rPr lang="sl-SI" dirty="0"/>
              <a:t>Domača naloga 1</a:t>
            </a:r>
          </a:p>
        </p:txBody>
      </p:sp>
      <mc:AlternateContent xmlns:mc="http://schemas.openxmlformats.org/markup-compatibility/2006">
        <mc:Choice xmlns:a14="http://schemas.microsoft.com/office/drawing/2010/main" Requires="a14">
          <p:sp>
            <p:nvSpPr>
              <p:cNvPr id="5" name="Pravokotnik 4">
                <a:extLst>
                  <a:ext uri="{FF2B5EF4-FFF2-40B4-BE49-F238E27FC236}">
                    <a16:creationId xmlns:a16="http://schemas.microsoft.com/office/drawing/2014/main" id="{169A2F89-FBB7-4A9C-8236-D1213A7A61C9}"/>
                  </a:ext>
                </a:extLst>
              </p:cNvPr>
              <p:cNvSpPr/>
              <p:nvPr/>
            </p:nvSpPr>
            <p:spPr>
              <a:xfrm>
                <a:off x="1916098" y="536016"/>
                <a:ext cx="9818702" cy="1754326"/>
              </a:xfrm>
              <a:prstGeom prst="rect">
                <a:avLst/>
              </a:prstGeom>
            </p:spPr>
            <p:txBody>
              <a:bodyPr wrap="square">
                <a:spAutoFit/>
              </a:bodyPr>
              <a:lstStyle/>
              <a:p>
                <a:pPr algn="just"/>
                <a:r>
                  <a:rPr lang="sl-SI" dirty="0"/>
                  <a:t>Delate za podjetje, ki proizvaja kroglaste plovce. Specifična gostota plovca je 600 kg/m3 in ima polmer 5,5 cm. Zadolžili so vas, da določite, kolikšne del žoge se potopi. Enačba, ki opisuje, kako se globina potopljenega dela žoge spreminja ima obliko:</a:t>
                </a:r>
              </a:p>
              <a:p>
                <a:pPr algn="just"/>
                <a14:m>
                  <m:oMathPara xmlns:m="http://schemas.openxmlformats.org/officeDocument/2006/math">
                    <m:oMathParaPr>
                      <m:jc m:val="centerGroup"/>
                    </m:oMathParaPr>
                    <m:oMath xmlns:m="http://schemas.openxmlformats.org/officeDocument/2006/math">
                      <m:sSup>
                        <m:sSupPr>
                          <m:ctrlPr>
                            <a:rPr lang="sl-SI" i="1" smtClean="0">
                              <a:latin typeface="Cambria Math" panose="02040503050406030204" pitchFamily="18" charset="0"/>
                            </a:rPr>
                          </m:ctrlPr>
                        </m:sSupPr>
                        <m:e>
                          <m:r>
                            <a:rPr lang="sl-SI" b="0" i="1" smtClean="0">
                              <a:latin typeface="Cambria Math" panose="02040503050406030204" pitchFamily="18" charset="0"/>
                            </a:rPr>
                            <m:t>𝑥</m:t>
                          </m:r>
                        </m:e>
                        <m:sup>
                          <m:r>
                            <a:rPr lang="sl-SI" b="0" i="1" smtClean="0">
                              <a:latin typeface="Cambria Math" panose="02040503050406030204" pitchFamily="18" charset="0"/>
                            </a:rPr>
                            <m:t>3</m:t>
                          </m:r>
                        </m:sup>
                      </m:sSup>
                      <m:r>
                        <a:rPr lang="sl-SI" b="0" i="1" smtClean="0">
                          <a:latin typeface="Cambria Math" panose="02040503050406030204" pitchFamily="18" charset="0"/>
                        </a:rPr>
                        <m:t>−0.165∗</m:t>
                      </m:r>
                      <m:sSup>
                        <m:sSupPr>
                          <m:ctrlPr>
                            <a:rPr lang="sl-SI" b="0" i="1" smtClean="0">
                              <a:latin typeface="Cambria Math" panose="02040503050406030204" pitchFamily="18" charset="0"/>
                            </a:rPr>
                          </m:ctrlPr>
                        </m:sSupPr>
                        <m:e>
                          <m:r>
                            <a:rPr lang="sl-SI" b="0" i="1" smtClean="0">
                              <a:latin typeface="Cambria Math" panose="02040503050406030204" pitchFamily="18" charset="0"/>
                            </a:rPr>
                            <m:t>𝑥</m:t>
                          </m:r>
                        </m:e>
                        <m:sup>
                          <m:r>
                            <a:rPr lang="sl-SI" b="0" i="1" smtClean="0">
                              <a:latin typeface="Cambria Math" panose="02040503050406030204" pitchFamily="18" charset="0"/>
                            </a:rPr>
                            <m:t>2</m:t>
                          </m:r>
                        </m:sup>
                      </m:sSup>
                      <m:r>
                        <a:rPr lang="sl-SI" b="0" i="1" smtClean="0">
                          <a:latin typeface="Cambria Math" panose="02040503050406030204" pitchFamily="18" charset="0"/>
                        </a:rPr>
                        <m:t>+3.993∗</m:t>
                      </m:r>
                      <m:sSup>
                        <m:sSupPr>
                          <m:ctrlPr>
                            <a:rPr lang="sl-SI" b="0" i="1" smtClean="0">
                              <a:latin typeface="Cambria Math" panose="02040503050406030204" pitchFamily="18" charset="0"/>
                            </a:rPr>
                          </m:ctrlPr>
                        </m:sSupPr>
                        <m:e>
                          <m:r>
                            <a:rPr lang="sl-SI" b="0" i="1" smtClean="0">
                              <a:latin typeface="Cambria Math" panose="02040503050406030204" pitchFamily="18" charset="0"/>
                            </a:rPr>
                            <m:t>10</m:t>
                          </m:r>
                        </m:e>
                        <m:sup>
                          <m:r>
                            <a:rPr lang="sl-SI" b="0" i="1" smtClean="0">
                              <a:latin typeface="Cambria Math" panose="02040503050406030204" pitchFamily="18" charset="0"/>
                            </a:rPr>
                            <m:t>−4</m:t>
                          </m:r>
                        </m:sup>
                      </m:sSup>
                      <m:r>
                        <a:rPr lang="sl-SI" b="0" i="1" smtClean="0">
                          <a:latin typeface="Cambria Math" panose="02040503050406030204" pitchFamily="18" charset="0"/>
                        </a:rPr>
                        <m:t>=0,</m:t>
                      </m:r>
                    </m:oMath>
                  </m:oMathPara>
                </a14:m>
                <a:endParaRPr lang="sl-SI" dirty="0"/>
              </a:p>
              <a:p>
                <a:pPr algn="just"/>
                <a:r>
                  <a:rPr lang="sl-SI" dirty="0"/>
                  <a:t>kjer</a:t>
                </a:r>
                <a:r>
                  <a:rPr lang="sl-SI" i="1" dirty="0"/>
                  <a:t> x </a:t>
                </a:r>
                <a:r>
                  <a:rPr lang="sl-SI" dirty="0"/>
                  <a:t>podaja globino, za katero je plovec potopljen. Rešitev določi z metodo bisekcije, sekantno ter tudi Newtonovo metodo. Rezultate komentiraj.</a:t>
                </a:r>
              </a:p>
            </p:txBody>
          </p:sp>
        </mc:Choice>
        <mc:Fallback>
          <p:sp>
            <p:nvSpPr>
              <p:cNvPr id="5" name="Pravokotnik 4">
                <a:extLst>
                  <a:ext uri="{FF2B5EF4-FFF2-40B4-BE49-F238E27FC236}">
                    <a16:creationId xmlns:a16="http://schemas.microsoft.com/office/drawing/2014/main" id="{169A2F89-FBB7-4A9C-8236-D1213A7A61C9}"/>
                  </a:ext>
                </a:extLst>
              </p:cNvPr>
              <p:cNvSpPr>
                <a:spLocks noRot="1" noChangeAspect="1" noMove="1" noResize="1" noEditPoints="1" noAdjustHandles="1" noChangeArrowheads="1" noChangeShapeType="1" noTextEdit="1"/>
              </p:cNvSpPr>
              <p:nvPr/>
            </p:nvSpPr>
            <p:spPr>
              <a:xfrm>
                <a:off x="1916098" y="536016"/>
                <a:ext cx="9818702" cy="1754326"/>
              </a:xfrm>
              <a:prstGeom prst="rect">
                <a:avLst/>
              </a:prstGeom>
              <a:blipFill>
                <a:blip r:embed="rId2"/>
                <a:stretch>
                  <a:fillRect l="-497" t="-2083" r="-497" b="-4514"/>
                </a:stretch>
              </a:blipFill>
            </p:spPr>
            <p:txBody>
              <a:bodyPr/>
              <a:lstStyle/>
              <a:p>
                <a:r>
                  <a:rPr lang="en-US">
                    <a:noFill/>
                  </a:rPr>
                  <a:t> </a:t>
                </a:r>
              </a:p>
            </p:txBody>
          </p:sp>
        </mc:Fallback>
      </mc:AlternateContent>
      <p:pic>
        <p:nvPicPr>
          <p:cNvPr id="11" name="Slika 10">
            <a:extLst>
              <a:ext uri="{FF2B5EF4-FFF2-40B4-BE49-F238E27FC236}">
                <a16:creationId xmlns:a16="http://schemas.microsoft.com/office/drawing/2014/main" id="{6CFCF31C-8534-482E-8E39-5790969C9215}"/>
              </a:ext>
            </a:extLst>
          </p:cNvPr>
          <p:cNvPicPr>
            <a:picLocks noChangeAspect="1"/>
          </p:cNvPicPr>
          <p:nvPr/>
        </p:nvPicPr>
        <p:blipFill>
          <a:blip r:embed="rId3"/>
          <a:stretch>
            <a:fillRect/>
          </a:stretch>
        </p:blipFill>
        <p:spPr>
          <a:xfrm>
            <a:off x="104775" y="3049773"/>
            <a:ext cx="2673091" cy="1745127"/>
          </a:xfrm>
          <a:prstGeom prst="rect">
            <a:avLst/>
          </a:prstGeom>
        </p:spPr>
      </p:pic>
      <p:pic>
        <p:nvPicPr>
          <p:cNvPr id="8" name="Grafika 7">
            <a:extLst>
              <a:ext uri="{FF2B5EF4-FFF2-40B4-BE49-F238E27FC236}">
                <a16:creationId xmlns:a16="http://schemas.microsoft.com/office/drawing/2014/main" id="{1137722A-8E0A-4A7C-AC97-903B0F9237F7}"/>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r="72988"/>
          <a:stretch/>
        </p:blipFill>
        <p:spPr>
          <a:xfrm>
            <a:off x="104775" y="441610"/>
            <a:ext cx="1927065" cy="1914525"/>
          </a:xfrm>
          <a:prstGeom prst="rect">
            <a:avLst/>
          </a:prstGeom>
        </p:spPr>
      </p:pic>
      <p:sp>
        <p:nvSpPr>
          <p:cNvPr id="10" name="Naslov 1">
            <a:extLst>
              <a:ext uri="{FF2B5EF4-FFF2-40B4-BE49-F238E27FC236}">
                <a16:creationId xmlns:a16="http://schemas.microsoft.com/office/drawing/2014/main" id="{985AFF3F-2287-42F3-89A4-EBA0A10F7584}"/>
              </a:ext>
            </a:extLst>
          </p:cNvPr>
          <p:cNvSpPr txBox="1">
            <a:spLocks/>
          </p:cNvSpPr>
          <p:nvPr/>
        </p:nvSpPr>
        <p:spPr>
          <a:xfrm>
            <a:off x="0" y="2557481"/>
            <a:ext cx="10515600" cy="623724"/>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sl-SI" dirty="0"/>
              <a:t>Domača naloga 2</a:t>
            </a:r>
          </a:p>
        </p:txBody>
      </p:sp>
      <p:sp>
        <p:nvSpPr>
          <p:cNvPr id="12" name="Pravokotnik 11">
            <a:extLst>
              <a:ext uri="{FF2B5EF4-FFF2-40B4-BE49-F238E27FC236}">
                <a16:creationId xmlns:a16="http://schemas.microsoft.com/office/drawing/2014/main" id="{3439310B-5F61-42E0-BAC0-BFE60A5151C8}"/>
              </a:ext>
            </a:extLst>
          </p:cNvPr>
          <p:cNvSpPr/>
          <p:nvPr/>
        </p:nvSpPr>
        <p:spPr>
          <a:xfrm>
            <a:off x="2777866" y="3040574"/>
            <a:ext cx="9309359" cy="923330"/>
          </a:xfrm>
          <a:prstGeom prst="rect">
            <a:avLst/>
          </a:prstGeom>
        </p:spPr>
        <p:txBody>
          <a:bodyPr wrap="square">
            <a:spAutoFit/>
          </a:bodyPr>
          <a:lstStyle/>
          <a:p>
            <a:pPr algn="just"/>
            <a:r>
              <a:rPr lang="sl-SI" dirty="0"/>
              <a:t>Žogo vržemo pod </a:t>
            </a:r>
            <a:r>
              <a:rPr lang="el-GR" dirty="0"/>
              <a:t>α</a:t>
            </a:r>
            <a:r>
              <a:rPr lang="sl-SI" dirty="0"/>
              <a:t> glede na klanec. Klanec pa z vodoravnico oklepa kot </a:t>
            </a:r>
            <a:r>
              <a:rPr lang="el-GR" dirty="0"/>
              <a:t>β</a:t>
            </a:r>
            <a:r>
              <a:rPr lang="sl-SI" dirty="0"/>
              <a:t> (glej sliko). Uporabite razvite metode za iskanje ničel in določite, kje (torej koordinati </a:t>
            </a:r>
            <a:r>
              <a:rPr lang="sl-SI" i="1" dirty="0" err="1"/>
              <a:t>x</a:t>
            </a:r>
            <a:r>
              <a:rPr lang="sl-SI" baseline="-25000" dirty="0" err="1"/>
              <a:t>k</a:t>
            </a:r>
            <a:r>
              <a:rPr lang="sl-SI" dirty="0"/>
              <a:t> in </a:t>
            </a:r>
            <a:r>
              <a:rPr lang="sl-SI" i="1" dirty="0" err="1"/>
              <a:t>y</a:t>
            </a:r>
            <a:r>
              <a:rPr lang="sl-SI" baseline="-25000" dirty="0" err="1"/>
              <a:t>k</a:t>
            </a:r>
            <a:r>
              <a:rPr lang="sl-SI" dirty="0"/>
              <a:t>) žoga zadane klanec za v tabeli navedene primere. Lego določite tudi analitično in komentirajte rezultate.</a:t>
            </a:r>
          </a:p>
        </p:txBody>
      </p:sp>
      <p:graphicFrame>
        <p:nvGraphicFramePr>
          <p:cNvPr id="9" name="Tabela 12">
            <a:extLst>
              <a:ext uri="{FF2B5EF4-FFF2-40B4-BE49-F238E27FC236}">
                <a16:creationId xmlns:a16="http://schemas.microsoft.com/office/drawing/2014/main" id="{D46B0322-3D23-405B-A5C3-2278C114CC76}"/>
              </a:ext>
            </a:extLst>
          </p:cNvPr>
          <p:cNvGraphicFramePr>
            <a:graphicFrameLocks noGrp="1"/>
          </p:cNvGraphicFramePr>
          <p:nvPr>
            <p:extLst>
              <p:ext uri="{D42A27DB-BD31-4B8C-83A1-F6EECF244321}">
                <p14:modId xmlns:p14="http://schemas.microsoft.com/office/powerpoint/2010/main" val="115488890"/>
              </p:ext>
            </p:extLst>
          </p:nvPr>
        </p:nvGraphicFramePr>
        <p:xfrm>
          <a:off x="2882641" y="3891280"/>
          <a:ext cx="3082923" cy="2966720"/>
        </p:xfrm>
        <a:graphic>
          <a:graphicData uri="http://schemas.openxmlformats.org/drawingml/2006/table">
            <a:tbl>
              <a:tblPr firstRow="1" bandRow="1">
                <a:tableStyleId>{5C22544A-7EE6-4342-B048-85BDC9FD1C3A}</a:tableStyleId>
              </a:tblPr>
              <a:tblGrid>
                <a:gridCol w="655776">
                  <a:extLst>
                    <a:ext uri="{9D8B030D-6E8A-4147-A177-3AD203B41FA5}">
                      <a16:colId xmlns:a16="http://schemas.microsoft.com/office/drawing/2014/main" val="2523838197"/>
                    </a:ext>
                  </a:extLst>
                </a:gridCol>
                <a:gridCol w="628614">
                  <a:extLst>
                    <a:ext uri="{9D8B030D-6E8A-4147-A177-3AD203B41FA5}">
                      <a16:colId xmlns:a16="http://schemas.microsoft.com/office/drawing/2014/main" val="3539077922"/>
                    </a:ext>
                  </a:extLst>
                </a:gridCol>
                <a:gridCol w="599511">
                  <a:extLst>
                    <a:ext uri="{9D8B030D-6E8A-4147-A177-3AD203B41FA5}">
                      <a16:colId xmlns:a16="http://schemas.microsoft.com/office/drawing/2014/main" val="2139300557"/>
                    </a:ext>
                  </a:extLst>
                </a:gridCol>
                <a:gridCol w="596033">
                  <a:extLst>
                    <a:ext uri="{9D8B030D-6E8A-4147-A177-3AD203B41FA5}">
                      <a16:colId xmlns:a16="http://schemas.microsoft.com/office/drawing/2014/main" val="421569167"/>
                    </a:ext>
                  </a:extLst>
                </a:gridCol>
                <a:gridCol w="602989">
                  <a:extLst>
                    <a:ext uri="{9D8B030D-6E8A-4147-A177-3AD203B41FA5}">
                      <a16:colId xmlns:a16="http://schemas.microsoft.com/office/drawing/2014/main" val="192785418"/>
                    </a:ext>
                  </a:extLst>
                </a:gridCol>
              </a:tblGrid>
              <a:tr h="370840">
                <a:tc>
                  <a:txBody>
                    <a:bodyPr/>
                    <a:lstStyle/>
                    <a:p>
                      <a:pPr algn="ctr"/>
                      <a:r>
                        <a:rPr lang="el-GR" dirty="0"/>
                        <a:t>α</a:t>
                      </a:r>
                      <a:endParaRPr lang="en-US" dirty="0"/>
                    </a:p>
                  </a:txBody>
                  <a:tcPr/>
                </a:tc>
                <a:tc>
                  <a:txBody>
                    <a:bodyPr/>
                    <a:lstStyle/>
                    <a:p>
                      <a:pPr algn="ctr"/>
                      <a:r>
                        <a:rPr lang="el-GR" dirty="0"/>
                        <a:t>β</a:t>
                      </a:r>
                      <a:endParaRPr lang="en-US" dirty="0"/>
                    </a:p>
                  </a:txBody>
                  <a:tcPr/>
                </a:tc>
                <a:tc>
                  <a:txBody>
                    <a:bodyPr/>
                    <a:lstStyle/>
                    <a:p>
                      <a:pPr algn="ctr"/>
                      <a:r>
                        <a:rPr lang="sl-SI" i="1" dirty="0"/>
                        <a:t>v</a:t>
                      </a:r>
                      <a:r>
                        <a:rPr lang="sl-SI" baseline="-25000" dirty="0"/>
                        <a:t>0</a:t>
                      </a:r>
                      <a:endParaRPr lang="en-US" dirty="0"/>
                    </a:p>
                  </a:txBody>
                  <a:tcPr/>
                </a:tc>
                <a:tc>
                  <a:txBody>
                    <a:bodyPr/>
                    <a:lstStyle/>
                    <a:p>
                      <a:pPr algn="ctr"/>
                      <a:r>
                        <a:rPr lang="sl-SI" i="1" dirty="0" err="1"/>
                        <a:t>x</a:t>
                      </a:r>
                      <a:r>
                        <a:rPr lang="sl-SI" baseline="-25000" dirty="0" err="1"/>
                        <a:t>k</a:t>
                      </a:r>
                      <a:endParaRPr lang="en-US" dirty="0"/>
                    </a:p>
                  </a:txBody>
                  <a:tcPr>
                    <a:solidFill>
                      <a:srgbClr val="00B050"/>
                    </a:solidFill>
                  </a:tcPr>
                </a:tc>
                <a:tc>
                  <a:txBody>
                    <a:bodyPr/>
                    <a:lstStyle/>
                    <a:p>
                      <a:pPr algn="ctr"/>
                      <a:r>
                        <a:rPr lang="sl-SI" i="1" dirty="0" err="1"/>
                        <a:t>y</a:t>
                      </a:r>
                      <a:r>
                        <a:rPr lang="sl-SI" baseline="-25000" dirty="0" err="1"/>
                        <a:t>k</a:t>
                      </a:r>
                      <a:endParaRPr lang="en-US" dirty="0"/>
                    </a:p>
                  </a:txBody>
                  <a:tcPr>
                    <a:solidFill>
                      <a:srgbClr val="00B050"/>
                    </a:solidFill>
                  </a:tcPr>
                </a:tc>
                <a:extLst>
                  <a:ext uri="{0D108BD9-81ED-4DB2-BD59-A6C34878D82A}">
                    <a16:rowId xmlns:a16="http://schemas.microsoft.com/office/drawing/2014/main" val="1483513180"/>
                  </a:ext>
                </a:extLst>
              </a:tr>
              <a:tr h="370840">
                <a:tc>
                  <a:txBody>
                    <a:bodyPr/>
                    <a:lstStyle/>
                    <a:p>
                      <a:pPr algn="ctr"/>
                      <a:r>
                        <a:rPr lang="sl-SI" dirty="0"/>
                        <a:t>15</a:t>
                      </a:r>
                      <a:endParaRPr lang="en-US" dirty="0"/>
                    </a:p>
                  </a:txBody>
                  <a:tcPr/>
                </a:tc>
                <a:tc>
                  <a:txBody>
                    <a:bodyPr/>
                    <a:lstStyle/>
                    <a:p>
                      <a:pPr algn="ctr"/>
                      <a:r>
                        <a:rPr lang="sl-SI" dirty="0"/>
                        <a:t>30</a:t>
                      </a:r>
                      <a:endParaRPr lang="en-US" dirty="0"/>
                    </a:p>
                  </a:txBody>
                  <a:tcPr/>
                </a:tc>
                <a:tc>
                  <a:txBody>
                    <a:bodyPr/>
                    <a:lstStyle/>
                    <a:p>
                      <a:pPr algn="ctr"/>
                      <a:r>
                        <a:rPr lang="sl-SI" dirty="0"/>
                        <a:t>10</a:t>
                      </a:r>
                      <a:endParaRPr lang="en-US" dirty="0"/>
                    </a:p>
                  </a:txBody>
                  <a:tcPr/>
                </a:tc>
                <a:tc>
                  <a:txBody>
                    <a:bodyPr/>
                    <a:lstStyle/>
                    <a:p>
                      <a:pPr algn="ctr"/>
                      <a:endParaRPr lang="en-US" dirty="0"/>
                    </a:p>
                  </a:txBody>
                  <a:tcPr>
                    <a:solidFill>
                      <a:srgbClr val="00B050"/>
                    </a:solidFill>
                  </a:tcPr>
                </a:tc>
                <a:tc>
                  <a:txBody>
                    <a:bodyPr/>
                    <a:lstStyle/>
                    <a:p>
                      <a:pPr algn="ctr"/>
                      <a:endParaRPr lang="en-US"/>
                    </a:p>
                  </a:txBody>
                  <a:tcPr>
                    <a:solidFill>
                      <a:srgbClr val="00B050"/>
                    </a:solidFill>
                  </a:tcPr>
                </a:tc>
                <a:extLst>
                  <a:ext uri="{0D108BD9-81ED-4DB2-BD59-A6C34878D82A}">
                    <a16:rowId xmlns:a16="http://schemas.microsoft.com/office/drawing/2014/main" val="2842688877"/>
                  </a:ext>
                </a:extLst>
              </a:tr>
              <a:tr h="370840">
                <a:tc>
                  <a:txBody>
                    <a:bodyPr/>
                    <a:lstStyle/>
                    <a:p>
                      <a:pPr algn="ctr"/>
                      <a:r>
                        <a:rPr lang="sl-SI" dirty="0"/>
                        <a:t>30</a:t>
                      </a:r>
                      <a:endParaRPr lang="en-US" dirty="0"/>
                    </a:p>
                  </a:txBody>
                  <a:tcPr/>
                </a:tc>
                <a:tc>
                  <a:txBody>
                    <a:bodyPr/>
                    <a:lstStyle/>
                    <a:p>
                      <a:pPr algn="ctr"/>
                      <a:r>
                        <a:rPr lang="sl-SI" dirty="0"/>
                        <a:t>15</a:t>
                      </a:r>
                      <a:endParaRPr lang="en-US" dirty="0"/>
                    </a:p>
                  </a:txBody>
                  <a:tcPr/>
                </a:tc>
                <a:tc>
                  <a:txBody>
                    <a:bodyPr/>
                    <a:lstStyle/>
                    <a:p>
                      <a:pPr algn="ctr"/>
                      <a:r>
                        <a:rPr lang="sl-SI" dirty="0"/>
                        <a:t>10</a:t>
                      </a:r>
                      <a:endParaRPr lang="en-US" dirty="0"/>
                    </a:p>
                  </a:txBody>
                  <a:tcPr/>
                </a:tc>
                <a:tc>
                  <a:txBody>
                    <a:bodyPr/>
                    <a:lstStyle/>
                    <a:p>
                      <a:pPr algn="ctr"/>
                      <a:endParaRPr lang="en-US" dirty="0"/>
                    </a:p>
                  </a:txBody>
                  <a:tcPr>
                    <a:solidFill>
                      <a:srgbClr val="00B050"/>
                    </a:solidFill>
                  </a:tcPr>
                </a:tc>
                <a:tc>
                  <a:txBody>
                    <a:bodyPr/>
                    <a:lstStyle/>
                    <a:p>
                      <a:pPr algn="ctr"/>
                      <a:endParaRPr lang="en-US"/>
                    </a:p>
                  </a:txBody>
                  <a:tcPr>
                    <a:solidFill>
                      <a:srgbClr val="00B050"/>
                    </a:solidFill>
                  </a:tcPr>
                </a:tc>
                <a:extLst>
                  <a:ext uri="{0D108BD9-81ED-4DB2-BD59-A6C34878D82A}">
                    <a16:rowId xmlns:a16="http://schemas.microsoft.com/office/drawing/2014/main" val="3354987374"/>
                  </a:ext>
                </a:extLst>
              </a:tr>
              <a:tr h="370840">
                <a:tc>
                  <a:txBody>
                    <a:bodyPr/>
                    <a:lstStyle/>
                    <a:p>
                      <a:pPr algn="ctr"/>
                      <a:r>
                        <a:rPr lang="sl-SI" dirty="0"/>
                        <a:t>45</a:t>
                      </a:r>
                      <a:endParaRPr lang="en-US" dirty="0"/>
                    </a:p>
                  </a:txBody>
                  <a:tcPr/>
                </a:tc>
                <a:tc>
                  <a:txBody>
                    <a:bodyPr/>
                    <a:lstStyle/>
                    <a:p>
                      <a:pPr algn="ctr"/>
                      <a:r>
                        <a:rPr lang="sl-SI" dirty="0"/>
                        <a:t>10</a:t>
                      </a:r>
                      <a:endParaRPr lang="en-US" dirty="0"/>
                    </a:p>
                  </a:txBody>
                  <a:tcPr/>
                </a:tc>
                <a:tc>
                  <a:txBody>
                    <a:bodyPr/>
                    <a:lstStyle/>
                    <a:p>
                      <a:pPr algn="ctr"/>
                      <a:r>
                        <a:rPr lang="sl-SI" dirty="0"/>
                        <a:t>20</a:t>
                      </a:r>
                      <a:endParaRPr lang="en-US" dirty="0"/>
                    </a:p>
                  </a:txBody>
                  <a:tcPr/>
                </a:tc>
                <a:tc>
                  <a:txBody>
                    <a:bodyPr/>
                    <a:lstStyle/>
                    <a:p>
                      <a:pPr algn="ctr"/>
                      <a:endParaRPr lang="en-US" dirty="0"/>
                    </a:p>
                  </a:txBody>
                  <a:tcPr>
                    <a:solidFill>
                      <a:srgbClr val="00B050"/>
                    </a:solidFill>
                  </a:tcPr>
                </a:tc>
                <a:tc>
                  <a:txBody>
                    <a:bodyPr/>
                    <a:lstStyle/>
                    <a:p>
                      <a:pPr algn="ctr"/>
                      <a:endParaRPr lang="en-US"/>
                    </a:p>
                  </a:txBody>
                  <a:tcPr>
                    <a:solidFill>
                      <a:srgbClr val="00B050"/>
                    </a:solidFill>
                  </a:tcPr>
                </a:tc>
                <a:extLst>
                  <a:ext uri="{0D108BD9-81ED-4DB2-BD59-A6C34878D82A}">
                    <a16:rowId xmlns:a16="http://schemas.microsoft.com/office/drawing/2014/main" val="1288685636"/>
                  </a:ext>
                </a:extLst>
              </a:tr>
              <a:tr h="370840">
                <a:tc>
                  <a:txBody>
                    <a:bodyPr/>
                    <a:lstStyle/>
                    <a:p>
                      <a:pPr algn="ctr"/>
                      <a:r>
                        <a:rPr lang="sl-SI" dirty="0"/>
                        <a:t>10</a:t>
                      </a:r>
                      <a:endParaRPr lang="en-US" dirty="0"/>
                    </a:p>
                  </a:txBody>
                  <a:tcPr/>
                </a:tc>
                <a:tc>
                  <a:txBody>
                    <a:bodyPr/>
                    <a:lstStyle/>
                    <a:p>
                      <a:pPr algn="ctr"/>
                      <a:r>
                        <a:rPr lang="sl-SI" dirty="0"/>
                        <a:t>45</a:t>
                      </a:r>
                      <a:endParaRPr lang="en-US" dirty="0"/>
                    </a:p>
                  </a:txBody>
                  <a:tcPr/>
                </a:tc>
                <a:tc>
                  <a:txBody>
                    <a:bodyPr/>
                    <a:lstStyle/>
                    <a:p>
                      <a:pPr algn="ctr"/>
                      <a:r>
                        <a:rPr lang="sl-SI" dirty="0"/>
                        <a:t>20</a:t>
                      </a:r>
                      <a:endParaRPr lang="en-US" dirty="0"/>
                    </a:p>
                  </a:txBody>
                  <a:tcPr/>
                </a:tc>
                <a:tc>
                  <a:txBody>
                    <a:bodyPr/>
                    <a:lstStyle/>
                    <a:p>
                      <a:pPr algn="ctr"/>
                      <a:endParaRPr lang="en-US"/>
                    </a:p>
                  </a:txBody>
                  <a:tcPr>
                    <a:solidFill>
                      <a:srgbClr val="00B050"/>
                    </a:solidFill>
                  </a:tcPr>
                </a:tc>
                <a:tc>
                  <a:txBody>
                    <a:bodyPr/>
                    <a:lstStyle/>
                    <a:p>
                      <a:pPr algn="ctr"/>
                      <a:endParaRPr lang="en-US" dirty="0"/>
                    </a:p>
                  </a:txBody>
                  <a:tcPr>
                    <a:solidFill>
                      <a:srgbClr val="00B050"/>
                    </a:solidFill>
                  </a:tcPr>
                </a:tc>
                <a:extLst>
                  <a:ext uri="{0D108BD9-81ED-4DB2-BD59-A6C34878D82A}">
                    <a16:rowId xmlns:a16="http://schemas.microsoft.com/office/drawing/2014/main" val="507113296"/>
                  </a:ext>
                </a:extLst>
              </a:tr>
              <a:tr h="370840">
                <a:tc>
                  <a:txBody>
                    <a:bodyPr/>
                    <a:lstStyle/>
                    <a:p>
                      <a:pPr algn="ctr"/>
                      <a:r>
                        <a:rPr lang="sl-SI" dirty="0"/>
                        <a:t>30</a:t>
                      </a:r>
                      <a:endParaRPr lang="en-US" dirty="0"/>
                    </a:p>
                  </a:txBody>
                  <a:tcPr/>
                </a:tc>
                <a:tc>
                  <a:txBody>
                    <a:bodyPr/>
                    <a:lstStyle/>
                    <a:p>
                      <a:pPr algn="ctr"/>
                      <a:r>
                        <a:rPr lang="sl-SI" dirty="0"/>
                        <a:t>40</a:t>
                      </a:r>
                      <a:endParaRPr lang="en-US" dirty="0"/>
                    </a:p>
                  </a:txBody>
                  <a:tcPr/>
                </a:tc>
                <a:tc>
                  <a:txBody>
                    <a:bodyPr/>
                    <a:lstStyle/>
                    <a:p>
                      <a:pPr algn="ctr"/>
                      <a:r>
                        <a:rPr lang="sl-SI" dirty="0"/>
                        <a:t>10</a:t>
                      </a:r>
                      <a:endParaRPr lang="en-US" dirty="0"/>
                    </a:p>
                  </a:txBody>
                  <a:tcPr/>
                </a:tc>
                <a:tc>
                  <a:txBody>
                    <a:bodyPr/>
                    <a:lstStyle/>
                    <a:p>
                      <a:pPr algn="ctr"/>
                      <a:endParaRPr lang="en-US"/>
                    </a:p>
                  </a:txBody>
                  <a:tcPr>
                    <a:solidFill>
                      <a:srgbClr val="00B050"/>
                    </a:solidFill>
                  </a:tcPr>
                </a:tc>
                <a:tc>
                  <a:txBody>
                    <a:bodyPr/>
                    <a:lstStyle/>
                    <a:p>
                      <a:pPr algn="ctr"/>
                      <a:endParaRPr lang="en-US" dirty="0"/>
                    </a:p>
                  </a:txBody>
                  <a:tcPr>
                    <a:solidFill>
                      <a:srgbClr val="00B050"/>
                    </a:solidFill>
                  </a:tcPr>
                </a:tc>
                <a:extLst>
                  <a:ext uri="{0D108BD9-81ED-4DB2-BD59-A6C34878D82A}">
                    <a16:rowId xmlns:a16="http://schemas.microsoft.com/office/drawing/2014/main" val="3972070560"/>
                  </a:ext>
                </a:extLst>
              </a:tr>
              <a:tr h="370840">
                <a:tc>
                  <a:txBody>
                    <a:bodyPr/>
                    <a:lstStyle/>
                    <a:p>
                      <a:pPr algn="ctr"/>
                      <a:r>
                        <a:rPr lang="sl-SI" dirty="0"/>
                        <a:t>40</a:t>
                      </a:r>
                      <a:endParaRPr lang="en-US" dirty="0"/>
                    </a:p>
                  </a:txBody>
                  <a:tcPr/>
                </a:tc>
                <a:tc>
                  <a:txBody>
                    <a:bodyPr/>
                    <a:lstStyle/>
                    <a:p>
                      <a:pPr algn="ctr"/>
                      <a:r>
                        <a:rPr lang="sl-SI" dirty="0"/>
                        <a:t>30</a:t>
                      </a:r>
                      <a:endParaRPr lang="en-US" dirty="0"/>
                    </a:p>
                  </a:txBody>
                  <a:tcPr/>
                </a:tc>
                <a:tc>
                  <a:txBody>
                    <a:bodyPr/>
                    <a:lstStyle/>
                    <a:p>
                      <a:pPr algn="ctr"/>
                      <a:r>
                        <a:rPr lang="sl-SI" dirty="0"/>
                        <a:t>10</a:t>
                      </a:r>
                      <a:endParaRPr lang="en-US" dirty="0"/>
                    </a:p>
                  </a:txBody>
                  <a:tcPr/>
                </a:tc>
                <a:tc>
                  <a:txBody>
                    <a:bodyPr/>
                    <a:lstStyle/>
                    <a:p>
                      <a:pPr algn="ctr"/>
                      <a:endParaRPr lang="en-US"/>
                    </a:p>
                  </a:txBody>
                  <a:tcPr>
                    <a:solidFill>
                      <a:srgbClr val="00B050"/>
                    </a:solidFill>
                  </a:tcPr>
                </a:tc>
                <a:tc>
                  <a:txBody>
                    <a:bodyPr/>
                    <a:lstStyle/>
                    <a:p>
                      <a:pPr algn="ctr"/>
                      <a:endParaRPr lang="en-US" dirty="0"/>
                    </a:p>
                  </a:txBody>
                  <a:tcPr>
                    <a:solidFill>
                      <a:srgbClr val="00B050"/>
                    </a:solidFill>
                  </a:tcPr>
                </a:tc>
                <a:extLst>
                  <a:ext uri="{0D108BD9-81ED-4DB2-BD59-A6C34878D82A}">
                    <a16:rowId xmlns:a16="http://schemas.microsoft.com/office/drawing/2014/main" val="1346399858"/>
                  </a:ext>
                </a:extLst>
              </a:tr>
              <a:tr h="370840">
                <a:tc>
                  <a:txBody>
                    <a:bodyPr/>
                    <a:lstStyle/>
                    <a:p>
                      <a:pPr algn="ctr"/>
                      <a:r>
                        <a:rPr lang="sl-SI" dirty="0"/>
                        <a:t>30</a:t>
                      </a:r>
                      <a:endParaRPr lang="en-US" dirty="0"/>
                    </a:p>
                  </a:txBody>
                  <a:tcPr/>
                </a:tc>
                <a:tc>
                  <a:txBody>
                    <a:bodyPr/>
                    <a:lstStyle/>
                    <a:p>
                      <a:pPr algn="ctr"/>
                      <a:r>
                        <a:rPr lang="sl-SI" dirty="0"/>
                        <a:t>0</a:t>
                      </a:r>
                      <a:endParaRPr lang="en-US" dirty="0"/>
                    </a:p>
                  </a:txBody>
                  <a:tcPr/>
                </a:tc>
                <a:tc>
                  <a:txBody>
                    <a:bodyPr/>
                    <a:lstStyle/>
                    <a:p>
                      <a:pPr algn="ctr"/>
                      <a:r>
                        <a:rPr lang="sl-SI" dirty="0"/>
                        <a:t>10</a:t>
                      </a:r>
                      <a:endParaRPr lang="en-US" dirty="0"/>
                    </a:p>
                  </a:txBody>
                  <a:tcPr/>
                </a:tc>
                <a:tc>
                  <a:txBody>
                    <a:bodyPr/>
                    <a:lstStyle/>
                    <a:p>
                      <a:pPr algn="ctr"/>
                      <a:endParaRPr lang="en-US" dirty="0"/>
                    </a:p>
                  </a:txBody>
                  <a:tcPr>
                    <a:solidFill>
                      <a:srgbClr val="00B050"/>
                    </a:solidFill>
                  </a:tcPr>
                </a:tc>
                <a:tc>
                  <a:txBody>
                    <a:bodyPr/>
                    <a:lstStyle/>
                    <a:p>
                      <a:pPr algn="ctr"/>
                      <a:endParaRPr lang="en-US" dirty="0"/>
                    </a:p>
                  </a:txBody>
                  <a:tcPr>
                    <a:solidFill>
                      <a:srgbClr val="00B050"/>
                    </a:solidFill>
                  </a:tcPr>
                </a:tc>
                <a:extLst>
                  <a:ext uri="{0D108BD9-81ED-4DB2-BD59-A6C34878D82A}">
                    <a16:rowId xmlns:a16="http://schemas.microsoft.com/office/drawing/2014/main" val="1471013453"/>
                  </a:ext>
                </a:extLst>
              </a:tr>
            </a:tbl>
          </a:graphicData>
        </a:graphic>
      </p:graphicFrame>
    </p:spTree>
    <p:extLst>
      <p:ext uri="{BB962C8B-B14F-4D97-AF65-F5344CB8AC3E}">
        <p14:creationId xmlns:p14="http://schemas.microsoft.com/office/powerpoint/2010/main" val="2893222253"/>
      </p:ext>
    </p:extLst>
  </p:cSld>
  <p:clrMapOvr>
    <a:masterClrMapping/>
  </p:clrMapOvr>
</p:sld>
</file>

<file path=ppt/theme/theme1.xml><?xml version="1.0" encoding="utf-8"?>
<a:theme xmlns:a="http://schemas.openxmlformats.org/drawingml/2006/main" name="Officeova tema">
  <a:themeElements>
    <a:clrScheme name="Pisarn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isarn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isar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E26AC66BAFBECC44BC2AC68C3C7B250C" ma:contentTypeVersion="12" ma:contentTypeDescription="Ustvari nov dokument." ma:contentTypeScope="" ma:versionID="4aeb1bdb742e64f83b82637c772711fb">
  <xsd:schema xmlns:xsd="http://www.w3.org/2001/XMLSchema" xmlns:xs="http://www.w3.org/2001/XMLSchema" xmlns:p="http://schemas.microsoft.com/office/2006/metadata/properties" xmlns:ns3="d1c5c474-c665-4dfa-b6ea-09faad940e4d" xmlns:ns4="76fd199f-e61f-4b48-9335-5dc8a0abc9ff" targetNamespace="http://schemas.microsoft.com/office/2006/metadata/properties" ma:root="true" ma:fieldsID="df45d7dd3a3e65d7d37ea08a27225bd8" ns3:_="" ns4:_="">
    <xsd:import namespace="d1c5c474-c665-4dfa-b6ea-09faad940e4d"/>
    <xsd:import namespace="76fd199f-e61f-4b48-9335-5dc8a0abc9ff"/>
    <xsd:element name="properties">
      <xsd:complexType>
        <xsd:sequence>
          <xsd:element name="documentManagement">
            <xsd:complexType>
              <xsd:all>
                <xsd:element ref="ns3:SharedWithUsers" minOccurs="0"/>
                <xsd:element ref="ns4:MediaServiceMetadata" minOccurs="0"/>
                <xsd:element ref="ns4:MediaServiceFastMetadata" minOccurs="0"/>
                <xsd:element ref="ns3:SharedWithDetails" minOccurs="0"/>
                <xsd:element ref="ns3:SharingHintHash"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c5c474-c665-4dfa-b6ea-09faad940e4d" elementFormDefault="qualified">
    <xsd:import namespace="http://schemas.microsoft.com/office/2006/documentManagement/types"/>
    <xsd:import namespace="http://schemas.microsoft.com/office/infopath/2007/PartnerControls"/>
    <xsd:element name="SharedWithUsers" ma:index="8" nillable="true" ma:displayName="V skupni rabi z"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V skupni rabi s podrobnostmi" ma:internalName="SharedWithDetails" ma:readOnly="true">
      <xsd:simpleType>
        <xsd:restriction base="dms:Note">
          <xsd:maxLength value="255"/>
        </xsd:restriction>
      </xsd:simpleType>
    </xsd:element>
    <xsd:element name="SharingHintHash" ma:index="12" nillable="true" ma:displayName="Razprševanje namiga za skupno rabo"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fd199f-e61f-4b48-9335-5dc8a0abc9ff"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Vrsta vsebine"/>
        <xsd:element ref="dc:title" minOccurs="0" maxOccurs="1" ma:index="4" ma:displayName="Naslov"/>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E970FE-48BF-4A53-A959-8A23F09774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c5c474-c665-4dfa-b6ea-09faad940e4d"/>
    <ds:schemaRef ds:uri="76fd199f-e61f-4b48-9335-5dc8a0abc9f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9C0B2D-7D23-4D4B-B9B8-D5E661E033D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EB469C9-8FAB-4D21-86FB-A924537C6B3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3076</TotalTime>
  <Words>782</Words>
  <Application>Microsoft Office PowerPoint</Application>
  <PresentationFormat>Širokozaslonsko</PresentationFormat>
  <Paragraphs>79</Paragraphs>
  <Slides>12</Slides>
  <Notes>0</Notes>
  <HiddenSlides>0</HiddenSlides>
  <MMClips>0</MMClips>
  <ScaleCrop>false</ScaleCrop>
  <HeadingPairs>
    <vt:vector size="6" baseType="variant">
      <vt:variant>
        <vt:lpstr>Uporabljene pisave</vt:lpstr>
      </vt:variant>
      <vt:variant>
        <vt:i4>4</vt:i4>
      </vt:variant>
      <vt:variant>
        <vt:lpstr>Tema</vt:lpstr>
      </vt:variant>
      <vt:variant>
        <vt:i4>1</vt:i4>
      </vt:variant>
      <vt:variant>
        <vt:lpstr>Naslovi diapozitivov</vt:lpstr>
      </vt:variant>
      <vt:variant>
        <vt:i4>12</vt:i4>
      </vt:variant>
    </vt:vector>
  </HeadingPairs>
  <TitlesOfParts>
    <vt:vector size="17" baseType="lpstr">
      <vt:lpstr>Arial</vt:lpstr>
      <vt:lpstr>Calibri</vt:lpstr>
      <vt:lpstr>Calibri Light</vt:lpstr>
      <vt:lpstr>Cambria Math</vt:lpstr>
      <vt:lpstr>Officeova tema</vt:lpstr>
      <vt:lpstr>Numerične metode VAJE 02</vt:lpstr>
      <vt:lpstr>Iskanje ničel (analitično)</vt:lpstr>
      <vt:lpstr>Iskanje ničel</vt:lpstr>
      <vt:lpstr>Iskanje ničel (numerično</vt:lpstr>
      <vt:lpstr>Metoda bisekcije</vt:lpstr>
      <vt:lpstr>Metoda bisekcije</vt:lpstr>
      <vt:lpstr>PowerPointova predstavitev</vt:lpstr>
      <vt:lpstr>Sekantna metoda</vt:lpstr>
      <vt:lpstr>Sekantna metoda</vt:lpstr>
      <vt:lpstr>NEWTONOVA METODA</vt:lpstr>
      <vt:lpstr>PowerPointova predstavitev</vt:lpstr>
      <vt:lpstr>Domača naloga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Numerične metode VAJE 02</dc:title>
  <dc:creator>Rene Markovič</dc:creator>
  <cp:lastModifiedBy>Rene Markovič</cp:lastModifiedBy>
  <cp:revision>14</cp:revision>
  <dcterms:created xsi:type="dcterms:W3CDTF">2020-03-03T10:06:23Z</dcterms:created>
  <dcterms:modified xsi:type="dcterms:W3CDTF">2022-03-03T09:04:41Z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0x010100E26AC66BAFBECC44BC2AC68C3C7B250C</vt:lpwstr>
  </property>
</Properties>
</file>